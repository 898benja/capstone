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c7ca67168e40c7" /><Relationship Type="http://schemas.openxmlformats.org/officeDocument/2006/relationships/extended-properties" Target="/docProps/app.xml" Id="R21df98a1ecff47ab" /><Relationship Type="http://schemas.openxmlformats.org/officeDocument/2006/relationships/officeDocument" Target="/ppt/presentation.xml" Id="Rfa7aa058a48045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bb0174034944bb"/>
  </p:sldMasterIdLst>
  <p:notesMasterIdLst>
    <p:notesMasterId xmlns:r="http://schemas.openxmlformats.org/officeDocument/2006/relationships" r:id="R806cb34e403d47e0"/>
  </p:notesMasterIdLst>
  <p:sldIdLst>
    <p:sldId xmlns:r="http://schemas.openxmlformats.org/officeDocument/2006/relationships" id="256" r:id="R315537a95b1d4a7d"/>
    <p:sldId xmlns:r="http://schemas.openxmlformats.org/officeDocument/2006/relationships" id="257" r:id="Rb0cc9d1237394023"/>
    <p:sldId xmlns:r="http://schemas.openxmlformats.org/officeDocument/2006/relationships" id="258" r:id="Re732d6da92334b81"/>
    <p:sldId xmlns:r="http://schemas.openxmlformats.org/officeDocument/2006/relationships" id="259" r:id="R59cd513b9c4243e0"/>
    <p:sldId xmlns:r="http://schemas.openxmlformats.org/officeDocument/2006/relationships" id="260" r:id="R23b88c7bd3a646a2"/>
    <p:sldId xmlns:r="http://schemas.openxmlformats.org/officeDocument/2006/relationships" id="261" r:id="R3f0f287633ab4544"/>
    <p:sldId xmlns:r="http://schemas.openxmlformats.org/officeDocument/2006/relationships" id="262" r:id="R12360b8323b84e61"/>
    <p:sldId xmlns:r="http://schemas.openxmlformats.org/officeDocument/2006/relationships" id="263" r:id="Rf432e9e6251640ef"/>
    <p:sldId xmlns:r="http://schemas.openxmlformats.org/officeDocument/2006/relationships" id="264" r:id="R577fa229c5a24841"/>
    <p:sldId xmlns:r="http://schemas.openxmlformats.org/officeDocument/2006/relationships" id="265" r:id="Re82e0de1e82b4d9d"/>
    <p:sldId xmlns:r="http://schemas.openxmlformats.org/officeDocument/2006/relationships" id="266" r:id="Ra1dc88b846d2482f"/>
    <p:sldId xmlns:r="http://schemas.openxmlformats.org/officeDocument/2006/relationships" id="267" r:id="Rb883d8ae5c0a47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536c3eed344f86" /><Relationship Type="http://schemas.openxmlformats.org/officeDocument/2006/relationships/slideMaster" Target="/ppt/slideMasters/slideMaster1.xml" Id="R0cbb0174034944bb" /><Relationship Type="http://schemas.openxmlformats.org/officeDocument/2006/relationships/notesMaster" Target="/ppt/notesMasters/notesMaster1.xml" Id="R806cb34e403d47e0" /><Relationship Type="http://schemas.openxmlformats.org/officeDocument/2006/relationships/presProps" Target="/ppt/presProps.xml" Id="R9b9f0c9504d84d71" /><Relationship Type="http://schemas.openxmlformats.org/officeDocument/2006/relationships/tableStyles" Target="/ppt/tableStyles.xml" Id="Rc6314060c1fb4110" /><Relationship Type="http://schemas.openxmlformats.org/officeDocument/2006/relationships/slide" Target="/ppt/slides/slide1.xml" Id="R315537a95b1d4a7d" /><Relationship Type="http://schemas.openxmlformats.org/officeDocument/2006/relationships/slide" Target="/ppt/slides/slide2.xml" Id="Rb0cc9d1237394023" /><Relationship Type="http://schemas.openxmlformats.org/officeDocument/2006/relationships/slide" Target="/ppt/slides/slide3.xml" Id="Re732d6da92334b81" /><Relationship Type="http://schemas.openxmlformats.org/officeDocument/2006/relationships/slide" Target="/ppt/slides/slide4.xml" Id="R59cd513b9c4243e0" /><Relationship Type="http://schemas.openxmlformats.org/officeDocument/2006/relationships/slide" Target="/ppt/slides/slide5.xml" Id="R23b88c7bd3a646a2" /><Relationship Type="http://schemas.openxmlformats.org/officeDocument/2006/relationships/slide" Target="/ppt/slides/slide6.xml" Id="R3f0f287633ab4544" /><Relationship Type="http://schemas.openxmlformats.org/officeDocument/2006/relationships/slide" Target="/ppt/slides/slide7.xml" Id="R12360b8323b84e61" /><Relationship Type="http://schemas.openxmlformats.org/officeDocument/2006/relationships/slide" Target="/ppt/slides/slide8.xml" Id="Rf432e9e6251640ef" /><Relationship Type="http://schemas.openxmlformats.org/officeDocument/2006/relationships/slide" Target="/ppt/slides/slide9.xml" Id="R577fa229c5a24841" /><Relationship Type="http://schemas.openxmlformats.org/officeDocument/2006/relationships/slide" Target="/ppt/slides/slide10.xml" Id="Re82e0de1e82b4d9d" /><Relationship Type="http://schemas.openxmlformats.org/officeDocument/2006/relationships/slide" Target="/ppt/slides/slide11.xml" Id="Ra1dc88b846d2482f" /><Relationship Type="http://schemas.openxmlformats.org/officeDocument/2006/relationships/slide" Target="/ppt/slides/slide12.xml" Id="Rb883d8ae5c0a47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a74524fe6b4c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0c7518cf364064" /><Relationship Type="http://schemas.openxmlformats.org/officeDocument/2006/relationships/notesMaster" Target="/ppt/notesMasters/notesMaster1.xml" Id="R53181288a58c46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6c6267cf0943f9" /><Relationship Type="http://schemas.openxmlformats.org/officeDocument/2006/relationships/notesMaster" Target="/ppt/notesMasters/notesMaster1.xml" Id="R191c0a16afcc44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90294369fd4fa6" /><Relationship Type="http://schemas.openxmlformats.org/officeDocument/2006/relationships/notesMaster" Target="/ppt/notesMasters/notesMaster1.xml" Id="Rddd283a860df4c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3105073c9d4ff7" /><Relationship Type="http://schemas.openxmlformats.org/officeDocument/2006/relationships/notesMaster" Target="/ppt/notesMasters/notesMaster1.xml" Id="R7ae04fe8dc8548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118a825867471d" /><Relationship Type="http://schemas.openxmlformats.org/officeDocument/2006/relationships/notesMaster" Target="/ppt/notesMasters/notesMaster1.xml" Id="R7f6d6794cd9a46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38779ad8f54d3c" /><Relationship Type="http://schemas.openxmlformats.org/officeDocument/2006/relationships/notesMaster" Target="/ppt/notesMasters/notesMaster1.xml" Id="R1e2dd97883274e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d38a3778114cd5" /><Relationship Type="http://schemas.openxmlformats.org/officeDocument/2006/relationships/notesMaster" Target="/ppt/notesMasters/notesMaster1.xml" Id="R4c2f0e13525441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0721e3ead34136" /><Relationship Type="http://schemas.openxmlformats.org/officeDocument/2006/relationships/notesMaster" Target="/ppt/notesMasters/notesMaster1.xml" Id="Rd101ee7b1cc74a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3ea99252cb499c" /><Relationship Type="http://schemas.openxmlformats.org/officeDocument/2006/relationships/notesMaster" Target="/ppt/notesMasters/notesMaster1.xml" Id="R498c8d541dca49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4c61f1512e4347" /><Relationship Type="http://schemas.openxmlformats.org/officeDocument/2006/relationships/notesMaster" Target="/ppt/notesMasters/notesMaster1.xml" Id="R1152727b23614d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cb73a77b104ce2" /><Relationship Type="http://schemas.openxmlformats.org/officeDocument/2006/relationships/notesMaster" Target="/ppt/notesMasters/notesMaster1.xml" Id="R900d55ef24634c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210214c97e4499" /><Relationship Type="http://schemas.openxmlformats.org/officeDocument/2006/relationships/notesMaster" Target="/ppt/notesMasters/notesMaster1.xml" Id="R6c7d62b464d14e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68db28166d43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2d574116594154" /><Relationship Type="http://schemas.openxmlformats.org/officeDocument/2006/relationships/slideLayout" Target="/ppt/slideLayouts/slideLayout1.xml" Id="Rd6e500450b8d4b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e500450b8d4b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7d9e20ba74f20" /><Relationship Type="http://schemas.openxmlformats.org/officeDocument/2006/relationships/notesSlide" Target="/ppt/notesSlides/notesSlide1.xml" Id="Rfdafe07c91374c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89774c3bf4244" /><Relationship Type="http://schemas.openxmlformats.org/officeDocument/2006/relationships/notesSlide" Target="/ppt/notesSlides/notesSlide2.xml" Id="R56236184c92044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683643a074a05" /><Relationship Type="http://schemas.openxmlformats.org/officeDocument/2006/relationships/notesSlide" Target="/ppt/notesSlides/notesSlide3.xml" Id="Rdc07945e7b784a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f91311a154fc5" /><Relationship Type="http://schemas.openxmlformats.org/officeDocument/2006/relationships/notesSlide" Target="/ppt/notesSlides/notesSlide4.xml" Id="Rb812bb4d65dd4a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57eb0e63b4436" /><Relationship Type="http://schemas.openxmlformats.org/officeDocument/2006/relationships/notesSlide" Target="/ppt/notesSlides/notesSlide5.xml" Id="R6a9239022c984d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079fe28414698" /><Relationship Type="http://schemas.openxmlformats.org/officeDocument/2006/relationships/notesSlide" Target="/ppt/notesSlides/notesSlide6.xml" Id="R7feb8e06e88549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9a6ef3b904535" /><Relationship Type="http://schemas.openxmlformats.org/officeDocument/2006/relationships/notesSlide" Target="/ppt/notesSlides/notesSlide7.xml" Id="Rae55c1e6d1e941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48899e7f24af0" /><Relationship Type="http://schemas.openxmlformats.org/officeDocument/2006/relationships/notesSlide" Target="/ppt/notesSlides/notesSlide8.xml" Id="Rc0ddeb87ff964e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f5af75e394e48" /><Relationship Type="http://schemas.openxmlformats.org/officeDocument/2006/relationships/notesSlide" Target="/ppt/notesSlides/notesSlide9.xml" Id="R26dbb5c06e9648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8909191594a4f" /><Relationship Type="http://schemas.openxmlformats.org/officeDocument/2006/relationships/notesSlide" Target="/ppt/notesSlides/notesSlide10.xml" Id="R0bcb6933939340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f0e43d13c461c" /><Relationship Type="http://schemas.openxmlformats.org/officeDocument/2006/relationships/notesSlide" Target="/ppt/notesSlides/notesSlide11.xml" Id="R476371f0b9c345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e96022120436c" /><Relationship Type="http://schemas.openxmlformats.org/officeDocument/2006/relationships/notesSlide" Target="/ppt/notesSlides/notesSlide12.xml" Id="Re2ef123a401d4a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9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E1468-1C51-489A-97CC-D16BBBAA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D26BD-3142-4A8B-AB15-77C0FF4D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B9FF"/>
                </a:solidFill>
              </a:defRPr>
            </a:pPr>
            <a:r>
              <a:rPr sz="1350" b="1">
                <a:solidFill>
                  <a:srgbClr val="A9B9FF"/>
                </a:solidFill>
              </a:rPr>
              <a:t>RUAHTONE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B46DE-3019-4326-AAA0-80199614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Orden para servir mejor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88B7B-CF0F-41FE-80A2-0E7C04B2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8DDF1"/>
                </a:solidFill>
              </a:defRPr>
            </a:pPr>
            <a:r>
              <a:rPr sz="2025" b="0">
                <a:solidFill>
                  <a:srgbClr val="D8DDF1"/>
                </a:solidFill>
              </a:rPr>
              <a:t>Propuesta inicial de producto · Gestión de eventos cristianos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550D0-6B1A-4DC1-BD65-86F7AD15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9B9FF"/>
                </a:solidFill>
              </a:defRPr>
            </a:pPr>
            <a:r>
              <a:rPr sz="1500" b="1">
                <a:solidFill>
                  <a:srgbClr val="A9B9FF"/>
                </a:solidFill>
              </a:rPr>
              <a:t>Web · iOS · Android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D66A2-B236-4EBE-B740-A25D5F51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0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90D13-6FDE-4280-9219-F515FCD5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DF1"/>
                </a:solidFill>
              </a:defRPr>
            </a:pPr>
            <a:r>
              <a:rPr sz="1350" b="0">
                <a:solidFill>
                  <a:srgbClr val="D8DDF1"/>
                </a:solidFill>
              </a:rPr>
              <a:t>Fase de planificación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C7A6E-9959-4822-BEAA-CF6681EF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DF1"/>
                </a:solidFill>
              </a:defRPr>
            </a:pPr>
            <a:r>
              <a:rPr sz="1350" b="0">
                <a:solidFill>
                  <a:srgbClr val="D8DDF1"/>
                </a:solidFill>
              </a:rPr>
              <a:t>Equipo fundador: 3 estudiantes que sirven en iglesias chilenas</a:t>
            </a:r>
          </a:p>
        </p:txBody>
      </p:sp>
    </p:spTree>
    <p:extLst>
      <p:ext uri="{BB962C8B-B14F-4D97-AF65-F5344CB8AC3E}">
        <p14:creationId xmlns:p14="http://schemas.microsoft.com/office/powerpoint/2010/main" val="4003311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A9F035-1B15-4BA4-8678-49BB952E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RUAHTONE  /  FASE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5194D-2199-44FF-A042-2CD06F6F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60D11-D0D9-405B-8E8B-93E6084A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1928"/>
                </a:solidFill>
              </a:defRPr>
            </a:pPr>
            <a:r>
              <a:rPr sz="2625" b="1">
                <a:solidFill>
                  <a:srgbClr val="141928"/>
                </a:solidFill>
              </a:rPr>
              <a:t>La organización vive dispersa entre WhatsApp y llamadas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4EADD-36D5-4954-8896-A88A0003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A0E65-C881-47EC-B0CC-54088785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651C9"/>
                </a:solidFill>
              </a:defRPr>
            </a:pPr>
            <a:r>
              <a:rPr sz="1500" b="1">
                <a:solidFill>
                  <a:srgbClr val="7651C9"/>
                </a:solidFill>
              </a:rPr>
              <a:t>Hoy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1352A-D01C-4386-A966-70214574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1928"/>
                </a:solidFill>
              </a:defRPr>
            </a:pPr>
            <a:r>
              <a:rPr sz="2400" b="1">
                <a:solidFill>
                  <a:srgbClr val="141928"/>
                </a:solidFill>
              </a:rPr>
              <a:t>La información crítica no tiene un lugar único ni una versión confiable.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F32D1-6095-4848-B225-E8790103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145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58A62-FABA-4D00-8771-89D7317F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288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928"/>
                </a:solidFill>
              </a:defRPr>
            </a:pPr>
            <a:r>
              <a:rPr sz="1425" b="0">
                <a:solidFill>
                  <a:srgbClr val="141928"/>
                </a:solidFill>
              </a:rPr>
              <a:t>Horarios y citaciones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7B73E-AB37-40FF-92BA-DD83D24D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A94CA-83CF-42E8-834D-57DFB136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384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928"/>
                </a:solidFill>
              </a:defRPr>
            </a:pPr>
            <a:r>
              <a:rPr sz="1425" b="0">
                <a:solidFill>
                  <a:srgbClr val="141928"/>
                </a:solidFill>
              </a:rPr>
              <a:t>Letras, PDFs y prédicas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4BE0C-E62F-45A3-9AAD-37EA320D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337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CDD91-F85E-4C13-8BF1-652F3136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480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928"/>
                </a:solidFill>
              </a:defRPr>
            </a:pPr>
            <a:r>
              <a:rPr sz="1425" b="0">
                <a:solidFill>
                  <a:srgbClr val="141928"/>
                </a:solidFill>
              </a:rPr>
              <a:t>Cambios de tonalidad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9CCB6-12D2-4B6F-B4AE-1394CB80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433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C02B2-5CFC-433F-B016-89DE2696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576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928"/>
                </a:solidFill>
              </a:defRPr>
            </a:pPr>
            <a:r>
              <a:rPr sz="1425" b="0">
                <a:solidFill>
                  <a:srgbClr val="141928"/>
                </a:solidFill>
              </a:rPr>
              <a:t>Contenido de multimedia que llega tarde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FEF41-A374-4A70-BF5A-7D63ABDC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529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A0BAA5-3E06-4D63-9128-B007850C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672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928"/>
                </a:solidFill>
              </a:defRPr>
            </a:pPr>
            <a:r>
              <a:rPr sz="1425" b="0">
                <a:solidFill>
                  <a:srgbClr val="141928"/>
                </a:solidFill>
              </a:rPr>
              <a:t>Información cruzada entre equipos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7194F9-9F88-4555-81FF-0FF771A4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7EB"/>
          </a:solidFill>
          <a:ln xmlns:a="http://schemas.openxmlformats.org/drawingml/2006/main" w="9525">
            <a:solidFill>
              <a:srgbClr val="F0D7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4F140-076E-4CAF-87A9-63E5F149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57920"/>
                </a:solidFill>
              </a:defRPr>
            </a:pPr>
            <a:r>
              <a:rPr sz="1125" b="1">
                <a:solidFill>
                  <a:srgbClr val="C57920"/>
                </a:solidFill>
              </a:rPr>
              <a:t>Impacto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2BBE67-7B68-45C5-BBF8-DF9FAE6D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530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928"/>
                </a:solidFill>
              </a:defRPr>
            </a:pPr>
            <a:r>
              <a:rPr sz="1725" b="1">
                <a:solidFill>
                  <a:srgbClr val="141928"/>
                </a:solidFill>
              </a:rPr>
              <a:t>El problema afecta a administradores, líderes y servidores.</a:t>
            </a:r>
          </a:p>
        </p:txBody>
      </p:sp>
    </p:spTree>
    <p:extLst>
      <p:ext uri="{BB962C8B-B14F-4D97-AF65-F5344CB8AC3E}">
        <p14:creationId xmlns:p14="http://schemas.microsoft.com/office/powerpoint/2010/main" val="16343110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484DD3-231A-4FFB-9E49-76CBE68B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RUAHTONE  /  FASE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52F64-F2EA-4B03-AF54-599A8D37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E4EC4-A679-494F-BBEA-AA7B9766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1928"/>
                </a:solidFill>
              </a:defRPr>
            </a:pPr>
            <a:r>
              <a:rPr sz="2625" b="1">
                <a:solidFill>
                  <a:srgbClr val="141928"/>
                </a:solidFill>
              </a:rPr>
              <a:t>La propuesta: un sistema común para eventos, equipos y confirmaciones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20887-64FD-4CA5-A76F-60B77F10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CB2E2-2AE2-4AE7-B441-C3D2FE3B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2766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2F4FC"/>
          </a:solidFill>
          <a:ln xmlns:a="http://schemas.openxmlformats.org/drawingml/2006/main" w="9525">
            <a:solidFill>
              <a:srgbClr val="D8D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ECAA6-0D12-444B-A6B8-C48CF701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6200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87999-3E48-4F27-BDE9-D53E6BBC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5740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</a:defRPr>
            </a:pPr>
            <a:r>
              <a:rPr sz="975" b="1">
                <a:solidFill>
                  <a:srgbClr val="3157D5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1ED96-3ABD-46B6-A99F-B42D42F1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928"/>
                </a:solidFill>
              </a:defRPr>
            </a:pPr>
            <a:r>
              <a:rPr sz="1800" b="1">
                <a:solidFill>
                  <a:srgbClr val="141928"/>
                </a:solidFill>
              </a:rPr>
              <a:t>Eventos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3C943-1E39-4EBE-9067-FE19FFA7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8003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Planificación central con fecha, ubicación, horarios, equipos y actividades.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38915-EA13-4531-A398-8C819321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47850"/>
            <a:ext cx="32766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2F4FC"/>
          </a:solidFill>
          <a:ln xmlns:a="http://schemas.openxmlformats.org/drawingml/2006/main" w="9525">
            <a:solidFill>
              <a:srgbClr val="D8D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6E300-D3F5-4CD8-99E9-6A90A6A3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47850"/>
            <a:ext cx="76200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D8A70-4C33-4148-A12F-702764E1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5740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51C9"/>
                </a:solidFill>
              </a:defRPr>
            </a:pPr>
            <a:r>
              <a:rPr sz="975" b="1">
                <a:solidFill>
                  <a:srgbClr val="7651C9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858AA-208A-48EC-95EC-A38B303A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003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928"/>
                </a:solidFill>
              </a:defRPr>
            </a:pPr>
            <a:r>
              <a:rPr sz="1800" b="1">
                <a:solidFill>
                  <a:srgbClr val="141928"/>
                </a:solidFill>
              </a:rPr>
              <a:t>Equipos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62DF7-5509-415F-A574-93107B44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57500"/>
            <a:ext cx="28003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Cada área conoce quién sirve, en qué función y qué debe preparar.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92804-B522-4C0B-99F3-F83D714F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47850"/>
            <a:ext cx="32766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2F4FC"/>
          </a:solidFill>
          <a:ln xmlns:a="http://schemas.openxmlformats.org/drawingml/2006/main" w="9525">
            <a:solidFill>
              <a:srgbClr val="D8DD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AF52D-F4EB-4EFD-AC29-F873A6B6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47850"/>
            <a:ext cx="76200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8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3DF487-CC0C-4170-8B83-4FC64B69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5740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866E"/>
                </a:solidFill>
              </a:defRPr>
            </a:pPr>
            <a:r>
              <a:rPr sz="975" b="1">
                <a:solidFill>
                  <a:srgbClr val="22866E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3064EF-1578-4E08-B8B9-6EA647C5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03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928"/>
                </a:solidFill>
              </a:defRPr>
            </a:pPr>
            <a:r>
              <a:rPr sz="1800" b="1">
                <a:solidFill>
                  <a:srgbClr val="141928"/>
                </a:solidFill>
              </a:rPr>
              <a:t>Confirmaciones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CCED1-41C7-4FC5-9B5E-70992A45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57500"/>
            <a:ext cx="28003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Aceptar o rechazar turnos y reflejar la respuesta automáticamente en el planning.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7C52F-CE51-49B1-AA1E-7635DAB5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51C9"/>
                </a:solidFill>
              </a:defRPr>
            </a:pPr>
            <a:r>
              <a:rPr sz="1125" b="1">
                <a:solidFill>
                  <a:srgbClr val="7651C9"/>
                </a:solidFill>
              </a:rPr>
              <a:t>Promesa inicial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0EF700-B538-477C-A51B-83C4BF51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5780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1928"/>
                </a:solidFill>
              </a:defRPr>
            </a:pPr>
            <a:r>
              <a:rPr sz="2175" b="1">
                <a:solidFill>
                  <a:srgbClr val="141928"/>
                </a:solidFill>
              </a:rPr>
              <a:t>“Me permite tener todo organizado y ordenado.”</a:t>
            </a:r>
          </a:p>
        </p:txBody>
      </p:sp>
    </p:spTree>
    <p:extLst>
      <p:ext uri="{BB962C8B-B14F-4D97-AF65-F5344CB8AC3E}">
        <p14:creationId xmlns:p14="http://schemas.microsoft.com/office/powerpoint/2010/main" val="1564712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08D06C-216B-4D26-80B1-9B9CB27A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RUAHTONE  /  FASE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DA60F-5E23-459A-B3E6-4DABB263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559A2-8E53-4F60-A961-2A9D6757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1928"/>
                </a:solidFill>
              </a:defRPr>
            </a:pPr>
            <a:r>
              <a:rPr sz="2625" b="1">
                <a:solidFill>
                  <a:srgbClr val="141928"/>
                </a:solidFill>
              </a:rPr>
              <a:t>El evento es el centro operativo de la primera versión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6C8D0-54BF-4D4C-8157-6E791DC9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0AB7F-D1D8-4C5B-8AD5-779DE0B3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Cultos de domingo y jóvenes son el punto de partida; el modelo también considera ensayos y reuniones de planning.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0A898-4D9E-4BBA-86D9-77920D23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385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06CF2-C74E-4C79-9D1C-3686EF3E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2F4FC"/>
          </a:solidFill>
          <a:ln xmlns:a="http://schemas.openxmlformats.org/drawingml/2006/main" w="9525">
            <a:solidFill>
              <a:srgbClr val="D8D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0715D-3A64-496D-9294-594F3F51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51C9"/>
                </a:solidFill>
              </a:defRPr>
            </a:pPr>
            <a:r>
              <a:rPr sz="1200" b="1">
                <a:solidFill>
                  <a:srgbClr val="7651C9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57385-FE04-48C4-9A55-772B591B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928"/>
                </a:solidFill>
              </a:defRPr>
            </a:pPr>
            <a:r>
              <a:rPr sz="1650" b="1">
                <a:solidFill>
                  <a:srgbClr val="141928"/>
                </a:solidFill>
              </a:rPr>
              <a:t>Planning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3E169-A422-46CB-A9B5-3718DCC4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D00E6E-DE7E-4959-B89A-DEB650D2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2F4FC"/>
          </a:solidFill>
          <a:ln xmlns:a="http://schemas.openxmlformats.org/drawingml/2006/main" w="9525">
            <a:solidFill>
              <a:srgbClr val="D8D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FCA6C-017C-4D4A-B771-AB082CA6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527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51C9"/>
                </a:solidFill>
              </a:defRPr>
            </a:pPr>
            <a:r>
              <a:rPr sz="1200" b="1">
                <a:solidFill>
                  <a:srgbClr val="7651C9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5BA8A-BDA5-47A6-81BA-CCD7EC68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928"/>
                </a:solidFill>
              </a:defRPr>
            </a:pPr>
            <a:r>
              <a:rPr sz="1650" b="1">
                <a:solidFill>
                  <a:srgbClr val="141928"/>
                </a:solidFill>
              </a:rPr>
              <a:t>Ensayo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8E346-F2C0-47E6-BF18-D7C1B386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642CD6-DEB0-4682-8655-66356BD9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9ED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AB752-6407-43A7-9F7A-67A50DD0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527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7D5"/>
                </a:solidFill>
              </a:defRPr>
            </a:pPr>
            <a:r>
              <a:rPr sz="1200" b="1">
                <a:solidFill>
                  <a:srgbClr val="3157D5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0A90C-92C9-474B-BA96-5EA9AB76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33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928"/>
                </a:solidFill>
              </a:defRPr>
            </a:pPr>
            <a:r>
              <a:rPr sz="1650" b="1">
                <a:solidFill>
                  <a:srgbClr val="141928"/>
                </a:solidFill>
              </a:rPr>
              <a:t>Culto / evento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2B700-80B2-49A9-BE4F-C3C1EFF2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2F4FC"/>
          </a:solidFill>
          <a:ln xmlns:a="http://schemas.openxmlformats.org/drawingml/2006/main" w="9525">
            <a:solidFill>
              <a:srgbClr val="D8DD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67FDA7-A719-4E95-A66E-76860E19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527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51C9"/>
                </a:solidFill>
              </a:defRPr>
            </a:pPr>
            <a:r>
              <a:rPr sz="1200" b="1">
                <a:solidFill>
                  <a:srgbClr val="7651C9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28F6C-4DE1-418B-B299-6D8A7421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33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928"/>
                </a:solidFill>
              </a:defRPr>
            </a:pPr>
            <a:r>
              <a:rPr sz="1650" b="1">
                <a:solidFill>
                  <a:srgbClr val="141928"/>
                </a:solidFill>
              </a:rPr>
              <a:t>Historial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05B990-6286-4742-B0FA-43761903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1928"/>
                </a:solidFill>
              </a:defRPr>
            </a:pPr>
            <a:r>
              <a:rPr sz="1800" b="1">
                <a:solidFill>
                  <a:srgbClr val="141928"/>
                </a:solidFill>
              </a:rPr>
              <a:t>Cada evento puede durar uno o varios días, relacionarse con otros eventos, guardarse en calendario y conservar lo utilizado.</a:t>
            </a:r>
          </a:p>
        </p:txBody>
      </p:sp>
    </p:spTree>
    <p:extLst>
      <p:ext uri="{BB962C8B-B14F-4D97-AF65-F5344CB8AC3E}">
        <p14:creationId xmlns:p14="http://schemas.microsoft.com/office/powerpoint/2010/main" val="16766331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DF50AF-6810-4E5F-BB0B-E2DC7519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RUAHTONE  /  FASE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40680-CC9D-4871-9AA6-5701F643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4507D-E4C6-4E20-A9B0-875D97C3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1928"/>
                </a:solidFill>
              </a:defRPr>
            </a:pPr>
            <a:r>
              <a:rPr sz="2625" b="1">
                <a:solidFill>
                  <a:srgbClr val="141928"/>
                </a:solidFill>
              </a:rPr>
              <a:t>La jerarquía acumula capacidades sin mezclar responsabilidades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8A993-65AB-4EF6-BD4E-6D973958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EEED1-F21C-494A-AC26-D9AD92BE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D8D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ED133-8F09-412B-B3B7-22EC58E5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7D5"/>
                </a:solidFill>
              </a:defRPr>
            </a:pPr>
            <a:r>
              <a:rPr sz="1500" b="1">
                <a:solidFill>
                  <a:srgbClr val="3157D5"/>
                </a:solidFill>
              </a:rPr>
              <a:t>ADMINISTRADOR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CBA0D-0049-4EF6-B4BD-7AB4518E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1928"/>
                </a:solidFill>
              </a:defRPr>
            </a:pPr>
            <a:r>
              <a:rPr sz="1575" b="0">
                <a:solidFill>
                  <a:srgbClr val="141928"/>
                </a:solidFill>
              </a:rPr>
              <a:t>Administra la iglesia, crea y publica eventos; hereda capacidades de líder.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A27B3-DCCD-4310-9DE2-2F4CD7F1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3EEFC"/>
          </a:solidFill>
          <a:ln xmlns:a="http://schemas.openxmlformats.org/drawingml/2006/main" w="9525">
            <a:solidFill>
              <a:srgbClr val="D8D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0A0DC-534A-4FF6-BDA5-7B41EDC7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651C9"/>
                </a:solidFill>
              </a:defRPr>
            </a:pPr>
            <a:r>
              <a:rPr sz="1500" b="1">
                <a:solidFill>
                  <a:srgbClr val="7651C9"/>
                </a:solidFill>
              </a:rPr>
              <a:t>LÍDER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3215E-6A31-4949-AE65-FBA3F793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575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1928"/>
                </a:solidFill>
              </a:defRPr>
            </a:pPr>
            <a:r>
              <a:rPr sz="1575" b="0">
                <a:solidFill>
                  <a:srgbClr val="141928"/>
                </a:solidFill>
              </a:rPr>
              <a:t>Gestiona únicamente su área y coordina servidores; también puede servir.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DD874-93FC-42D4-BE2E-8FD9B4F6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9525">
            <a:solidFill>
              <a:srgbClr val="D8D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2F54A2-AECD-44EF-AE49-08712B85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624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866E"/>
                </a:solidFill>
              </a:defRPr>
            </a:pPr>
            <a:r>
              <a:rPr sz="1500" b="1">
                <a:solidFill>
                  <a:srgbClr val="22866E"/>
                </a:solidFill>
              </a:rPr>
              <a:t>SERVIDOR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E33DC0-E511-4283-9E39-6D3D8B3C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148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1928"/>
                </a:solidFill>
              </a:defRPr>
            </a:pPr>
            <a:r>
              <a:rPr sz="1575" b="0">
                <a:solidFill>
                  <a:srgbClr val="141928"/>
                </a:solidFill>
              </a:rPr>
              <a:t>Consulta sus asignaciones y responde aceptar o rechazar.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DE874E-876F-4E38-9221-9A592E72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7920"/>
                </a:solidFill>
              </a:defRPr>
            </a:pPr>
            <a:r>
              <a:rPr sz="1050" b="1">
                <a:solidFill>
                  <a:srgbClr val="C57920"/>
                </a:solidFill>
              </a:rPr>
              <a:t>Decisión abierta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5675D-A1DC-4D8B-8F91-92B5D6C7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531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Definir si existirá un rol propietario y el alcance exacto de administradores por sede.</a:t>
            </a:r>
          </a:p>
        </p:txBody>
      </p:sp>
    </p:spTree>
    <p:extLst>
      <p:ext uri="{BB962C8B-B14F-4D97-AF65-F5344CB8AC3E}">
        <p14:creationId xmlns:p14="http://schemas.microsoft.com/office/powerpoint/2010/main" val="11456930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8CCC3B-F50C-4F84-9F2C-1A4EAF9B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RUAHTONE  /  FASE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1D56E-D43A-4630-91E1-91BEDC56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FFDA8-90B4-4C81-8879-A86D26DC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1928"/>
                </a:solidFill>
              </a:defRPr>
            </a:pPr>
            <a:r>
              <a:rPr sz="2625" b="1">
                <a:solidFill>
                  <a:srgbClr val="141928"/>
                </a:solidFill>
              </a:rPr>
              <a:t>Cada evento se desglosa por áreas y funciones específicas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977F3-1D57-455B-BB3E-E4305EC4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A6255-E743-41FD-A33B-CD5B9435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362200" cy="29908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2F4FC"/>
          </a:solidFill>
          <a:ln xmlns:a="http://schemas.openxmlformats.org/drawingml/2006/main" w="9525">
            <a:solidFill>
              <a:srgbClr val="D8D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B6BB1-DB08-4E3A-8539-90D5414B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7D5"/>
                </a:solidFill>
              </a:defRPr>
            </a:pPr>
            <a:r>
              <a:rPr sz="1875" b="1">
                <a:solidFill>
                  <a:srgbClr val="3157D5"/>
                </a:solidFill>
              </a:rPr>
              <a:t>Sonido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59E7A-8A38-469F-9BA2-AB33541E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94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5CA3A-52B1-423C-8712-1D5BD030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1943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928"/>
                </a:solidFill>
              </a:defRPr>
            </a:pPr>
            <a:r>
              <a:rPr sz="1500" b="0">
                <a:solidFill>
                  <a:srgbClr val="141928"/>
                </a:solidFill>
              </a:rPr>
              <a:t>Sala · monitores · montaje · patch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64185-C37A-459E-AD03-10257FB8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Roles configurables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596C2-4D6D-4E3C-8DCE-5C89972F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47850"/>
            <a:ext cx="2362200" cy="29908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2F4FC"/>
          </a:solidFill>
          <a:ln xmlns:a="http://schemas.openxmlformats.org/drawingml/2006/main" w="9525">
            <a:solidFill>
              <a:srgbClr val="D8D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1FB58-2DAC-413A-A20E-A4F304D4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955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651C9"/>
                </a:solidFill>
              </a:defRPr>
            </a:pPr>
            <a:r>
              <a:rPr sz="1875" b="1">
                <a:solidFill>
                  <a:srgbClr val="7651C9"/>
                </a:solidFill>
              </a:rPr>
              <a:t>Multimedia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98B80-6B9E-4530-9E29-5781201A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194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4E44F-558E-4606-A4CD-060A4BC2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57500"/>
            <a:ext cx="1943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928"/>
                </a:solidFill>
              </a:defRPr>
            </a:pPr>
            <a:r>
              <a:rPr sz="1500" b="0">
                <a:solidFill>
                  <a:srgbClr val="141928"/>
                </a:solidFill>
              </a:rPr>
              <a:t>Proyección · letras · contenido · video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AC0D4-28CB-4AD1-9B1B-AAEC3E07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434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Roles configurables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848E0-4F9A-4EF5-AC5B-B41D8E02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47850"/>
            <a:ext cx="2362200" cy="29908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2F4FC"/>
          </a:solidFill>
          <a:ln xmlns:a="http://schemas.openxmlformats.org/drawingml/2006/main" w="9525">
            <a:solidFill>
              <a:srgbClr val="D8DD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5B3EE5-8A59-4C41-B379-75104A1D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7D5"/>
                </a:solidFill>
              </a:defRPr>
            </a:pPr>
            <a:r>
              <a:rPr sz="1875" b="1">
                <a:solidFill>
                  <a:srgbClr val="3157D5"/>
                </a:solidFill>
              </a:rPr>
              <a:t>Adoración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B1B969-758E-4BF0-BD59-EB0D971C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194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9FB252-F070-42B6-9725-833281E7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1943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928"/>
                </a:solidFill>
              </a:defRPr>
            </a:pPr>
            <a:r>
              <a:rPr sz="1500" b="0">
                <a:solidFill>
                  <a:srgbClr val="141928"/>
                </a:solidFill>
              </a:rPr>
              <a:t>Voces · instrumentos · repertorio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6D4298-AEA2-4A4B-A16A-F90B10A1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434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Roles configurables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38CA46-77BD-4E03-A050-0255AB22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47850"/>
            <a:ext cx="2362200" cy="29908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2F4FC"/>
          </a:solidFill>
          <a:ln xmlns:a="http://schemas.openxmlformats.org/drawingml/2006/main" w="9525">
            <a:solidFill>
              <a:srgbClr val="D8DD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C46A43-9F80-44F8-8B42-268CEE8C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651C9"/>
                </a:solidFill>
              </a:defRPr>
            </a:pPr>
            <a:r>
              <a:rPr sz="1875" b="1">
                <a:solidFill>
                  <a:srgbClr val="7651C9"/>
                </a:solidFill>
              </a:rPr>
              <a:t>Pastorado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37E94B-DFBF-4E35-9F33-51CD0C71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194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47E857-3D11-4351-BF05-7668993F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1943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928"/>
                </a:solidFill>
              </a:defRPr>
            </a:pPr>
            <a:r>
              <a:rPr sz="1500" b="0">
                <a:solidFill>
                  <a:srgbClr val="141928"/>
                </a:solidFill>
              </a:rPr>
              <a:t>Predicación · dirección · contenidos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E1D4B7-F625-478C-9A74-AAA4B3E6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434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Roles configurables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22A6FC-99EE-494D-9F87-39969C98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4203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D8DD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7C074A-37FC-429F-926E-571910C3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387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651C9"/>
                </a:solidFill>
              </a:defRPr>
            </a:pPr>
            <a:r>
              <a:rPr sz="1050" b="1">
                <a:solidFill>
                  <a:srgbClr val="7651C9"/>
                </a:solidFill>
              </a:rPr>
              <a:t>Regla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3A4D76-B635-4B58-8573-D809C0F0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928"/>
                </a:solidFill>
              </a:defRPr>
            </a:pPr>
            <a:r>
              <a:rPr sz="1575" b="1">
                <a:solidFill>
                  <a:srgbClr val="141928"/>
                </a:solidFill>
              </a:rPr>
              <a:t>Todos los eventos tienen equipos; cada iglesia mantiene su propia configuración e información.</a:t>
            </a:r>
          </a:p>
        </p:txBody>
      </p:sp>
    </p:spTree>
    <p:extLst>
      <p:ext uri="{BB962C8B-B14F-4D97-AF65-F5344CB8AC3E}">
        <p14:creationId xmlns:p14="http://schemas.microsoft.com/office/powerpoint/2010/main" val="3795976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810767-2436-4F11-B4A6-B2CFBE61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RUAHTONE  /  FASE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81279-AF9E-4995-8FAD-D54A47AB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1DA5C-63A9-4EA1-9DF2-FEAA4FAD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1928"/>
                </a:solidFill>
              </a:defRPr>
            </a:pPr>
            <a:r>
              <a:rPr sz="2625" b="1">
                <a:solidFill>
                  <a:srgbClr val="141928"/>
                </a:solidFill>
              </a:rPr>
              <a:t>La experiencia del servidor debe resolverse en segundos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47DA2-0A7A-4BCF-8784-661D6A76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AEEAD-B0E5-40C6-8ABD-0DD49581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928"/>
                </a:solidFill>
              </a:defRPr>
            </a:pPr>
            <a:r>
              <a:rPr sz="1800" b="1">
                <a:solidFill>
                  <a:srgbClr val="141928"/>
                </a:solidFill>
              </a:rPr>
              <a:t>Antes de responder, la persona debe ver: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D3DAB-1B64-43AD-ABD9-70C10C61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048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4FC"/>
          </a:solidFill>
          <a:ln xmlns:a="http://schemas.openxmlformats.org/drawingml/2006/main" w="9525">
            <a:solidFill>
              <a:srgbClr val="D8D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BE0CF-B342-4ADD-998C-3450FFAA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3842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928"/>
                </a:solidFill>
              </a:defRPr>
            </a:pPr>
            <a:r>
              <a:rPr sz="1500" b="1">
                <a:solidFill>
                  <a:srgbClr val="141928"/>
                </a:solidFill>
              </a:rPr>
              <a:t>Fecha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DE0E5-6A4B-41EC-BF99-02C9EDB6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57450"/>
            <a:ext cx="3048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4FC"/>
          </a:solidFill>
          <a:ln xmlns:a="http://schemas.openxmlformats.org/drawingml/2006/main" w="9525">
            <a:solidFill>
              <a:srgbClr val="D8D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CA7AC-A9D1-4756-A7B3-67021EB0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3842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928"/>
                </a:solidFill>
              </a:defRPr>
            </a:pPr>
            <a:r>
              <a:rPr sz="1500" b="1">
                <a:solidFill>
                  <a:srgbClr val="141928"/>
                </a:solidFill>
              </a:rPr>
              <a:t>Hora de citación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D2FB7-D13A-4B29-8A85-4434491D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57450"/>
            <a:ext cx="3048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4FC"/>
          </a:solidFill>
          <a:ln xmlns:a="http://schemas.openxmlformats.org/drawingml/2006/main" w="9525">
            <a:solidFill>
              <a:srgbClr val="D8D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741DB-0E39-4F24-B352-A3F40D3C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3842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928"/>
                </a:solidFill>
              </a:defRPr>
            </a:pPr>
            <a:r>
              <a:rPr sz="1500" b="1">
                <a:solidFill>
                  <a:srgbClr val="141928"/>
                </a:solidFill>
              </a:rPr>
              <a:t>Inicio y término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2A37F-8A30-4267-9E3F-21E85BB7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3048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4FC"/>
          </a:solidFill>
          <a:ln xmlns:a="http://schemas.openxmlformats.org/drawingml/2006/main" w="9525">
            <a:solidFill>
              <a:srgbClr val="D8DD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27AA6D-752E-4DFE-9C2C-E027C626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9092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928"/>
                </a:solidFill>
              </a:defRPr>
            </a:pPr>
            <a:r>
              <a:rPr sz="1500" b="1">
                <a:solidFill>
                  <a:srgbClr val="141928"/>
                </a:solidFill>
              </a:rPr>
              <a:t>Actividad / función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25334-386C-42D6-9F9D-60A72311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09950"/>
            <a:ext cx="3048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4FC"/>
          </a:solidFill>
          <a:ln xmlns:a="http://schemas.openxmlformats.org/drawingml/2006/main" w="9525">
            <a:solidFill>
              <a:srgbClr val="D8DD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82A14-D7FF-437B-8B8A-73247131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9092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928"/>
                </a:solidFill>
              </a:defRPr>
            </a:pPr>
            <a:r>
              <a:rPr sz="1500" b="1">
                <a:solidFill>
                  <a:srgbClr val="141928"/>
                </a:solidFill>
              </a:rPr>
              <a:t>Ubicación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5DE078-3C7C-4EE4-8076-AC030EC1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857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7F3"/>
          </a:solidFill>
          <a:ln xmlns:a="http://schemas.openxmlformats.org/drawingml/2006/main" w="9525">
            <a:solidFill>
              <a:srgbClr val="B8DF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838958-B8F6-4F08-BA4D-F16C5566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866E"/>
                </a:solidFill>
              </a:defRPr>
            </a:pPr>
            <a:r>
              <a:rPr sz="1650" b="1">
                <a:solidFill>
                  <a:srgbClr val="22866E"/>
                </a:solidFill>
              </a:rPr>
              <a:t>ACEPTAR TURNO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84EAD-8D6D-4189-AC92-D55F70D7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4857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9525">
            <a:solidFill>
              <a:srgbClr val="F0C7C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4A4D3-0A58-470A-8B3E-17A1C6CB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149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04439"/>
                </a:solidFill>
              </a:defRPr>
            </a:pPr>
            <a:r>
              <a:rPr sz="1650" b="1">
                <a:solidFill>
                  <a:srgbClr val="B04439"/>
                </a:solidFill>
              </a:rPr>
              <a:t>RECHAZAR TURNO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7BD41-F452-4E80-A2A8-81186D9E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Visión futura validable: responder desde un mensaje de WhatsApp y actualizar automáticamente el planning.</a:t>
            </a:r>
          </a:p>
        </p:txBody>
      </p:sp>
    </p:spTree>
    <p:extLst>
      <p:ext uri="{BB962C8B-B14F-4D97-AF65-F5344CB8AC3E}">
        <p14:creationId xmlns:p14="http://schemas.microsoft.com/office/powerpoint/2010/main" val="4260717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C5518-9203-4775-8F2D-3DC07B89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RUAHTONE  /  FASE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EA754-6C6D-425E-8E3D-BC98E0A5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D715D-1F9F-44C3-974A-E9EA5D64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1928"/>
                </a:solidFill>
              </a:defRPr>
            </a:pPr>
            <a:r>
              <a:rPr sz="2625" b="1">
                <a:solidFill>
                  <a:srgbClr val="141928"/>
                </a:solidFill>
              </a:rPr>
              <a:t>La plataforma nace multiiglesia y puede crecer a múltiples sedes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168A2-93EE-4A3D-AE91-906FE8DD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0A105-B166-497C-83ED-38046C03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8577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2F4FC"/>
          </a:solidFill>
          <a:ln xmlns:a="http://schemas.openxmlformats.org/drawingml/2006/main" w="9525">
            <a:solidFill>
              <a:srgbClr val="D8D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B8B04-AF1C-45B1-8518-B2ECAB50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6200" cy="2724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7D44A-9624-4CB3-9512-28E8E6D6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574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</a:defRPr>
            </a:pPr>
            <a:r>
              <a:rPr sz="975" b="1">
                <a:solidFill>
                  <a:srgbClr val="3157D5"/>
                </a:solidFill>
              </a:rPr>
              <a:t>ORGANIZACIÓN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550FD-C9AC-4ECF-8E5B-695E409F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928"/>
                </a:solidFill>
              </a:defRPr>
            </a:pPr>
            <a:r>
              <a:rPr sz="1800" b="1">
                <a:solidFill>
                  <a:srgbClr val="141928"/>
                </a:solidFill>
              </a:rPr>
              <a:t>Una cuenta institucional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85D29-E76D-4CEF-95B4-3579A9AA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381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Información, usuarios, equipos y eventos completamente separados de otras iglesias.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4EFEB-3045-4534-AC5D-9BD8C696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47850"/>
            <a:ext cx="55435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2F4FC"/>
          </a:solidFill>
          <a:ln xmlns:a="http://schemas.openxmlformats.org/drawingml/2006/main" w="9525">
            <a:solidFill>
              <a:srgbClr val="D8D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CBE38-C3DD-4B1D-9F77-F9E3DF8A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47850"/>
            <a:ext cx="76200" cy="2724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FAF18-D4DC-43CC-8EF4-44348E45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57400"/>
            <a:ext cx="506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51C9"/>
                </a:solidFill>
              </a:defRPr>
            </a:pPr>
            <a:r>
              <a:rPr sz="975" b="1">
                <a:solidFill>
                  <a:srgbClr val="7651C9"/>
                </a:solidFill>
              </a:rPr>
              <a:t>MULTISEDE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4EC18-042C-4D14-AD8D-DEBF56FE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03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928"/>
                </a:solidFill>
              </a:defRPr>
            </a:pPr>
            <a:r>
              <a:rPr sz="1800" b="1">
                <a:solidFill>
                  <a:srgbClr val="141928"/>
                </a:solidFill>
              </a:rPr>
              <a:t>Capacidad del plan superior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223DE0-45B8-46BD-A556-74A11CD1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50673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Cada sede administra sus eventos y equipos dentro de una misma organización; alcance administrativo por definir.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334DBB-581A-4BE2-B0BC-D5926A4E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51C9"/>
                </a:solidFill>
              </a:defRPr>
            </a:pPr>
            <a:r>
              <a:rPr sz="1125" b="1">
                <a:solidFill>
                  <a:srgbClr val="7651C9"/>
                </a:solidFill>
              </a:rPr>
              <a:t>Escala objetivo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15E28-7DA0-43CD-9FB5-3552B636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1928"/>
                </a:solidFill>
              </a:defRPr>
            </a:pPr>
            <a:r>
              <a:rPr sz="2100" b="1">
                <a:solidFill>
                  <a:srgbClr val="141928"/>
                </a:solidFill>
              </a:rPr>
              <a:t>Desde comunidades de 100 personas hasta iglesias de 6.000 miembros y cientos de servidores.</a:t>
            </a:r>
          </a:p>
        </p:txBody>
      </p:sp>
    </p:spTree>
    <p:extLst>
      <p:ext uri="{BB962C8B-B14F-4D97-AF65-F5344CB8AC3E}">
        <p14:creationId xmlns:p14="http://schemas.microsoft.com/office/powerpoint/2010/main" val="12098448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14884F-3B19-4BD5-8650-84BA592D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RUAHTONE  /  FASE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603E5-4023-46F3-87F4-5DA78D7C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9EF55-0168-44F7-AE93-ACD6A9B2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1928"/>
                </a:solidFill>
              </a:defRPr>
            </a:pPr>
            <a:r>
              <a:rPr sz="2625" b="1">
                <a:solidFill>
                  <a:srgbClr val="141928"/>
                </a:solidFill>
              </a:rPr>
              <a:t>El modelo de negocio será acumulativo, igual que los permisos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FB85C-ACD2-4ABE-A199-6F029EE4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601C0-BD38-4713-B4C8-EBCA9518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25755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2F4FC"/>
          </a:solidFill>
          <a:ln xmlns:a="http://schemas.openxmlformats.org/drawingml/2006/main" w="9525">
            <a:solidFill>
              <a:srgbClr val="D8D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8C0FA-D43E-4922-9D31-617BD14E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2575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8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707FC-FF37-4657-9305-3D6CBEC0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866E"/>
                </a:solidFill>
              </a:defRPr>
            </a:pPr>
            <a:r>
              <a:rPr sz="1800" b="1">
                <a:solidFill>
                  <a:srgbClr val="22866E"/>
                </a:solidFill>
              </a:rPr>
              <a:t>BÁSICO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4A872-0B14-4ECA-9D4B-F2DEA05C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781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928"/>
                </a:solidFill>
              </a:defRPr>
            </a:pPr>
            <a:r>
              <a:rPr sz="1500" b="0">
                <a:solidFill>
                  <a:srgbClr val="141928"/>
                </a:solidFill>
              </a:rPr>
              <a:t>Funciones esenciales para comenzar a ordenar eventos y servidores.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EF70E-9087-415D-BC62-6F64C98A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FD259-0C5A-4727-92ED-3C164347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47850"/>
            <a:ext cx="325755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2F4FC"/>
          </a:solidFill>
          <a:ln xmlns:a="http://schemas.openxmlformats.org/drawingml/2006/main" w="9525">
            <a:solidFill>
              <a:srgbClr val="D8D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0BFAC-C501-48B3-8F91-E3CE2A42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47850"/>
            <a:ext cx="32575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E80E99-4D12-474E-8ACB-FAFD8986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098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651C9"/>
                </a:solidFill>
              </a:defRPr>
            </a:pPr>
            <a:r>
              <a:rPr sz="1800" b="1">
                <a:solidFill>
                  <a:srgbClr val="7651C9"/>
                </a:solidFill>
              </a:rPr>
              <a:t>INTERMEDIO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D4DAF-71B9-465D-AD4C-80FBE1E9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2781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928"/>
                </a:solidFill>
              </a:defRPr>
            </a:pPr>
            <a:r>
              <a:rPr sz="1500" b="0">
                <a:solidFill>
                  <a:srgbClr val="141928"/>
                </a:solidFill>
              </a:rPr>
              <a:t>Incluye Básico y amplía coordinación, capacidad y automatización.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0CC63-DB9E-4B6E-BAD9-3627DA6F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672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Básico 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A76502-D15B-45ED-BDF0-68E56EDE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47850"/>
            <a:ext cx="325755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2F4FC"/>
          </a:solidFill>
          <a:ln xmlns:a="http://schemas.openxmlformats.org/drawingml/2006/main" w="9525">
            <a:solidFill>
              <a:srgbClr val="D8DD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544BC-B188-4074-9163-24212BA7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47850"/>
            <a:ext cx="32575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910E7-C0AB-4080-8E2E-978DD9E3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57D5"/>
                </a:solidFill>
              </a:defRPr>
            </a:pPr>
            <a:r>
              <a:rPr sz="1800" b="1">
                <a:solidFill>
                  <a:srgbClr val="3157D5"/>
                </a:solidFill>
              </a:rPr>
              <a:t>PRO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E2EF92-D48E-4F5F-A921-B37A5284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0350"/>
            <a:ext cx="2781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928"/>
                </a:solidFill>
              </a:defRPr>
            </a:pPr>
            <a:r>
              <a:rPr sz="1500" b="0">
                <a:solidFill>
                  <a:srgbClr val="141928"/>
                </a:solidFill>
              </a:rPr>
              <a:t>Incluye Intermedio y habilita operación avanzada y múltiples sedes.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A7D2A9-BA47-4E3F-B8C6-E980D54C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672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Intermedio 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C67888-F63E-40AF-AB88-568B32FB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57920"/>
                </a:solidFill>
              </a:defRPr>
            </a:pPr>
            <a:r>
              <a:rPr sz="1125" b="1">
                <a:solidFill>
                  <a:srgbClr val="C57920"/>
                </a:solidFill>
              </a:rPr>
              <a:t>Pendiente de validación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A149CE-EFA2-4E52-B971-65B9D094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340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Precios, límites, prueba gratuita, facturación y funciones exactas de cada plan.</a:t>
            </a:r>
          </a:p>
        </p:txBody>
      </p:sp>
    </p:spTree>
    <p:extLst>
      <p:ext uri="{BB962C8B-B14F-4D97-AF65-F5344CB8AC3E}">
        <p14:creationId xmlns:p14="http://schemas.microsoft.com/office/powerpoint/2010/main" val="7932003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7F5047-6E47-4CFF-B268-22636456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RUAHTONE  /  FASE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6A13F-2DA7-4A90-ACA7-D0BD9588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D03F5-2E2C-479F-8455-5C1C5756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1928"/>
                </a:solidFill>
              </a:defRPr>
            </a:pPr>
            <a:r>
              <a:rPr sz="2625" b="1">
                <a:solidFill>
                  <a:srgbClr val="141928"/>
                </a:solidFill>
              </a:rPr>
              <a:t>Prototipo de Fase 1: demostrar orden antes de construir todo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B6E91-0A66-45E9-92CD-37D33306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CCC8E-ADF2-4CB6-A968-F1645B01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51C9"/>
                </a:solidFill>
              </a:defRPr>
            </a:pPr>
            <a:r>
              <a:rPr sz="1350" b="1">
                <a:solidFill>
                  <a:srgbClr val="7651C9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4A4DA-1A44-4830-9C57-B6EBD7FB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764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928"/>
                </a:solidFill>
              </a:defRPr>
            </a:pPr>
            <a:r>
              <a:rPr sz="1800" b="1">
                <a:solidFill>
                  <a:srgbClr val="141928"/>
                </a:solidFill>
              </a:rPr>
              <a:t>Definir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2B201-3494-406E-96B2-AA46B4D2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Roles, invitaciones, estados, permisos por sede y flujo de confirmación.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5BDCF-3788-4983-9FDE-6817AA2A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D29E1-E49E-49A5-89F6-8A12F22D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51C9"/>
                </a:solidFill>
              </a:defRPr>
            </a:pPr>
            <a:r>
              <a:rPr sz="1350" b="1">
                <a:solidFill>
                  <a:srgbClr val="7651C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AA3AE-4CB4-4C7E-AF39-F3F201AE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928"/>
                </a:solidFill>
              </a:defRPr>
            </a:pPr>
            <a:r>
              <a:rPr sz="1800" b="1">
                <a:solidFill>
                  <a:srgbClr val="141928"/>
                </a:solidFill>
              </a:rPr>
              <a:t>Prototipar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35E28E-C1CE-4BE8-B4A7-74D67A1C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Web responsive con evento, equipos, asignaciones y confirmación.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EF1785-CCE7-4E11-A824-547FEE2E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B133D8-0C28-44D2-B9DC-6D19771E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51C9"/>
                </a:solidFill>
              </a:defRPr>
            </a:pPr>
            <a:r>
              <a:rPr sz="1350" b="1">
                <a:solidFill>
                  <a:srgbClr val="7651C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845EA6-FF8B-4B9A-9C98-A8C9D5A5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928"/>
                </a:solidFill>
              </a:defRPr>
            </a:pPr>
            <a:r>
              <a:rPr sz="1800" b="1">
                <a:solidFill>
                  <a:srgbClr val="141928"/>
                </a:solidFill>
              </a:rPr>
              <a:t>Validar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15E31-D8BA-49DB-BB52-72AD69FA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576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Probar en las tres iglesias del equipo con administradores, líderes y servidores.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AD414-9FCB-4848-98CA-02E26543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36980E-EF0C-4307-8A17-B5272A99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51C9"/>
                </a:solidFill>
              </a:defRPr>
            </a:pPr>
            <a:r>
              <a:rPr sz="1350" b="1">
                <a:solidFill>
                  <a:srgbClr val="7651C9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5100CE-AC9D-4672-880D-67C2E7AA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928"/>
                </a:solidFill>
              </a:defRPr>
            </a:pPr>
            <a:r>
              <a:rPr sz="1800" b="1">
                <a:solidFill>
                  <a:srgbClr val="141928"/>
                </a:solidFill>
              </a:rPr>
              <a:t>Decidir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FAB3C4-B498-457D-ADEC-661115E9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482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Ajustar alcance móvil, WhatsApp y suscripciones con evidencia real.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770D57-30A3-49F9-9700-5AE1B7C5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439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41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30D06F-298B-4E44-8BA0-AE5FA736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531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Objetivo: una iglesia puede organizar un evento y confirmar su equipo sin depender del caos de WhatsApp.</a:t>
            </a:r>
          </a:p>
        </p:txBody>
      </p:sp>
    </p:spTree>
    <p:extLst>
      <p:ext uri="{BB962C8B-B14F-4D97-AF65-F5344CB8AC3E}">
        <p14:creationId xmlns:p14="http://schemas.microsoft.com/office/powerpoint/2010/main" val="8167891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0E3753-5CB1-487D-8604-15ABFBA0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RUAHTONE  /  FASE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B7A46-00C5-41D0-B0C6-EF6B06A6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B8995-EE3F-4756-A63A-3E8895CA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1928"/>
                </a:solidFill>
              </a:defRPr>
            </a:pPr>
            <a:r>
              <a:rPr sz="2625" b="1">
                <a:solidFill>
                  <a:srgbClr val="141928"/>
                </a:solidFill>
              </a:rPr>
              <a:t>Lo que ya sabemos — y lo que debemos validar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659BA-58D3-4044-B7F1-5019B385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FC0AE-C182-42E5-B4B3-8C9CFD84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866E"/>
                </a:solidFill>
              </a:defRPr>
            </a:pPr>
            <a:r>
              <a:rPr sz="1275" b="1">
                <a:solidFill>
                  <a:srgbClr val="22866E"/>
                </a:solidFill>
              </a:rPr>
              <a:t>DECISIONES TOMADAS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16C19-D9E3-4CDF-8BBB-11A58199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90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7920"/>
                </a:solidFill>
              </a:defRPr>
            </a:pPr>
            <a:r>
              <a:rPr sz="1275" b="1">
                <a:solidFill>
                  <a:srgbClr val="C57920"/>
                </a:solidFill>
              </a:rPr>
              <a:t>PREGUNTAS ABIERTAS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0AE11-B4D4-4418-9426-95FCA828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225FE-ABC1-40CB-8879-02046297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928"/>
                </a:solidFill>
              </a:defRPr>
            </a:pPr>
            <a:r>
              <a:rPr sz="1350" b="0">
                <a:solidFill>
                  <a:srgbClr val="141928"/>
                </a:solidFill>
              </a:rPr>
              <a:t>Eventos, equipos y confirmaciones son el núcleo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5E366-4C7C-42F7-B750-189A41D0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A97A3C-9FBD-4170-B3F2-A18FCA12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67025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928"/>
                </a:solidFill>
              </a:defRPr>
            </a:pPr>
            <a:r>
              <a:rPr sz="1350" b="0">
                <a:solidFill>
                  <a:srgbClr val="141928"/>
                </a:solidFill>
              </a:rPr>
              <a:t>Roles acumulativos: servidor, líder y admin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8C41F0-0696-4385-A189-09CB8867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A3866-7544-4151-B553-99A54117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928"/>
                </a:solidFill>
              </a:defRPr>
            </a:pPr>
            <a:r>
              <a:rPr sz="1350" b="0">
                <a:solidFill>
                  <a:srgbClr val="141928"/>
                </a:solidFill>
              </a:rPr>
              <a:t>Aislamiento de datos por iglesia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50E4B-5CBA-4630-B0D7-69917958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270BC-0853-4786-8157-02FD9C11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7175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928"/>
                </a:solidFill>
              </a:defRPr>
            </a:pPr>
            <a:r>
              <a:rPr sz="1350" b="0">
                <a:solidFill>
                  <a:srgbClr val="141928"/>
                </a:solidFill>
              </a:rPr>
              <a:t>Sonido, Multimedia, Adoración y Pastorado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80C082-E834-484C-B700-44734084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AC2FF-D69D-470A-AFA9-47321D77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928"/>
                </a:solidFill>
              </a:defRPr>
            </a:pPr>
            <a:r>
              <a:rPr sz="1350" b="0">
                <a:solidFill>
                  <a:srgbClr val="141928"/>
                </a:solidFill>
              </a:rPr>
              <a:t>Web, iOS y Android como visión de producto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3390D3-394C-466B-B3C6-9551F992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526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36537F-00F1-4407-A4FC-1E57D165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928"/>
                </a:solidFill>
              </a:defRPr>
            </a:pPr>
            <a:r>
              <a:rPr sz="1350" b="0">
                <a:solidFill>
                  <a:srgbClr val="141928"/>
                </a:solidFill>
              </a:rPr>
              <a:t>Método final de invitación y activación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9D4176-4D7E-4DB5-8755-87DDC365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527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4F3DD6-8CD7-4158-93F9-9636383C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67025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928"/>
                </a:solidFill>
              </a:defRPr>
            </a:pPr>
            <a:r>
              <a:rPr sz="1350" b="0">
                <a:solidFill>
                  <a:srgbClr val="141928"/>
                </a:solidFill>
              </a:rPr>
              <a:t>Alcance de administradores por sede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E65B69-3D12-4CB0-B391-9B67057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528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FC9135-CE8F-42C5-A2D2-E3B4F4DA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6710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928"/>
                </a:solidFill>
              </a:defRPr>
            </a:pPr>
            <a:r>
              <a:rPr sz="1350" b="0">
                <a:solidFill>
                  <a:srgbClr val="141928"/>
                </a:solidFill>
              </a:rPr>
              <a:t>Reglas exactas de recurrencia y plantillas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A8988C-7ADE-439F-AE18-C3F5C6DF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52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42FD9C-87DB-4CA3-BEBC-B40DBAD7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67175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928"/>
                </a:solidFill>
              </a:defRPr>
            </a:pPr>
            <a:r>
              <a:rPr sz="1350" b="0">
                <a:solidFill>
                  <a:srgbClr val="141928"/>
                </a:solidFill>
              </a:rPr>
              <a:t>Viabilidad de WhatsApp automático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90F96D-715E-4A2E-8D55-0596FF3B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529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D62852-2A95-49B1-96DE-AA254E6A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6725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928"/>
                </a:solidFill>
              </a:defRPr>
            </a:pPr>
            <a:r>
              <a:rPr sz="1350" b="0">
                <a:solidFill>
                  <a:srgbClr val="141928"/>
                </a:solidFill>
              </a:rPr>
              <a:t>Límites y precios de suscripción</a:t>
            </a:r>
          </a:p>
        </p:txBody>
      </p:sp>
    </p:spTree>
    <p:extLst>
      <p:ext uri="{BB962C8B-B14F-4D97-AF65-F5344CB8AC3E}">
        <p14:creationId xmlns:p14="http://schemas.microsoft.com/office/powerpoint/2010/main" val="12222977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19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39F7A-3814-4975-BB16-09C8D6BE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B9FF"/>
                </a:solidFill>
              </a:defRPr>
            </a:pPr>
            <a:r>
              <a:rPr sz="1350" b="1">
                <a:solidFill>
                  <a:srgbClr val="A9B9FF"/>
                </a:solidFill>
              </a:rPr>
              <a:t>RUAHTONE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F3804-053E-48D1-A7F5-755408A2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096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Ordenar primero.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Escalar después.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0EAF4-DB17-445C-9D9F-3D68B852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885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DDF1"/>
                </a:solidFill>
              </a:defRPr>
            </a:pPr>
            <a:r>
              <a:rPr sz="1875" b="0">
                <a:solidFill>
                  <a:srgbClr val="D8DDF1"/>
                </a:solidFill>
              </a:rPr>
              <a:t>La oportunidad comienza resolviendo un problema que los tres fundadores viven cada semana en iglesias chilenas.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DF189-9679-49E2-9B67-F449D73C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00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53B7A-0433-407B-A610-F69E9EB0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B9FF"/>
                </a:solidFill>
              </a:defRPr>
            </a:pPr>
            <a:r>
              <a:rPr sz="1125" b="1">
                <a:solidFill>
                  <a:srgbClr val="A9B9FF"/>
                </a:solidFill>
              </a:rPr>
              <a:t>Próxima decisión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1C1F4-E560-4403-B583-CB8AD0F8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Cerrar las preguntas operativas pendientes y construir el prototipo navegable de eventos y confirmaciones.</a:t>
            </a:r>
          </a:p>
        </p:txBody>
      </p:sp>
    </p:spTree>
    <p:extLst>
      <p:ext uri="{BB962C8B-B14F-4D97-AF65-F5344CB8AC3E}">
        <p14:creationId xmlns:p14="http://schemas.microsoft.com/office/powerpoint/2010/main" val="19232934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2026-08-12T21:30:23.4080000Z</dcterms:created>
  <dcterms:modified xsi:type="dcterms:W3CDTF">2026-08-12T21:30:23.4080000Z</dcterms:modified>
</coreProperties>
</file>