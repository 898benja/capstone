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1e959d52f54784" /><Relationship Type="http://schemas.openxmlformats.org/officeDocument/2006/relationships/extended-properties" Target="/docProps/app.xml" Id="R4c99b3dc1c224b30" /><Relationship Type="http://schemas.openxmlformats.org/officeDocument/2006/relationships/officeDocument" Target="/ppt/presentation.xml" Id="Reb36e50837414f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3ee970f90548a0"/>
  </p:sldMasterIdLst>
  <p:notesMasterIdLst>
    <p:notesMasterId xmlns:r="http://schemas.openxmlformats.org/officeDocument/2006/relationships" r:id="Ra898de7b74774899"/>
  </p:notesMasterIdLst>
  <p:sldIdLst>
    <p:sldId xmlns:r="http://schemas.openxmlformats.org/officeDocument/2006/relationships" id="256" r:id="R7c8e9ea7ea924499"/>
    <p:sldId xmlns:r="http://schemas.openxmlformats.org/officeDocument/2006/relationships" id="257" r:id="R767b472b72e74b58"/>
    <p:sldId xmlns:r="http://schemas.openxmlformats.org/officeDocument/2006/relationships" id="258" r:id="Re16d035ac4704719"/>
    <p:sldId xmlns:r="http://schemas.openxmlformats.org/officeDocument/2006/relationships" id="259" r:id="R00abdb0b1c164ef4"/>
    <p:sldId xmlns:r="http://schemas.openxmlformats.org/officeDocument/2006/relationships" id="260" r:id="Rd45ef571be22425c"/>
    <p:sldId xmlns:r="http://schemas.openxmlformats.org/officeDocument/2006/relationships" id="261" r:id="R3566d04ededb497f"/>
    <p:sldId xmlns:r="http://schemas.openxmlformats.org/officeDocument/2006/relationships" id="262" r:id="R41f5423e52614629"/>
    <p:sldId xmlns:r="http://schemas.openxmlformats.org/officeDocument/2006/relationships" id="263" r:id="R57c20e5a75ea4273"/>
    <p:sldId xmlns:r="http://schemas.openxmlformats.org/officeDocument/2006/relationships" id="264" r:id="R969f1b42673c4f03"/>
    <p:sldId xmlns:r="http://schemas.openxmlformats.org/officeDocument/2006/relationships" id="265" r:id="Rb575933b9a0e438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b13753dae94394" /><Relationship Type="http://schemas.openxmlformats.org/officeDocument/2006/relationships/slideMaster" Target="/ppt/slideMasters/slideMaster1.xml" Id="Ra73ee970f90548a0" /><Relationship Type="http://schemas.openxmlformats.org/officeDocument/2006/relationships/notesMaster" Target="/ppt/notesMasters/notesMaster1.xml" Id="Ra898de7b74774899" /><Relationship Type="http://schemas.openxmlformats.org/officeDocument/2006/relationships/presProps" Target="/ppt/presProps.xml" Id="R44c23dc6bf7a42c8" /><Relationship Type="http://schemas.openxmlformats.org/officeDocument/2006/relationships/tableStyles" Target="/ppt/tableStyles.xml" Id="Rdcefae4927c740c9" /><Relationship Type="http://schemas.openxmlformats.org/officeDocument/2006/relationships/slide" Target="/ppt/slides/slide1.xml" Id="R7c8e9ea7ea924499" /><Relationship Type="http://schemas.openxmlformats.org/officeDocument/2006/relationships/slide" Target="/ppt/slides/slide2.xml" Id="R767b472b72e74b58" /><Relationship Type="http://schemas.openxmlformats.org/officeDocument/2006/relationships/slide" Target="/ppt/slides/slide3.xml" Id="Re16d035ac4704719" /><Relationship Type="http://schemas.openxmlformats.org/officeDocument/2006/relationships/slide" Target="/ppt/slides/slide4.xml" Id="R00abdb0b1c164ef4" /><Relationship Type="http://schemas.openxmlformats.org/officeDocument/2006/relationships/slide" Target="/ppt/slides/slide5.xml" Id="Rd45ef571be22425c" /><Relationship Type="http://schemas.openxmlformats.org/officeDocument/2006/relationships/slide" Target="/ppt/slides/slide6.xml" Id="R3566d04ededb497f" /><Relationship Type="http://schemas.openxmlformats.org/officeDocument/2006/relationships/slide" Target="/ppt/slides/slide7.xml" Id="R41f5423e52614629" /><Relationship Type="http://schemas.openxmlformats.org/officeDocument/2006/relationships/slide" Target="/ppt/slides/slide8.xml" Id="R57c20e5a75ea4273" /><Relationship Type="http://schemas.openxmlformats.org/officeDocument/2006/relationships/slide" Target="/ppt/slides/slide9.xml" Id="R969f1b42673c4f03" /><Relationship Type="http://schemas.openxmlformats.org/officeDocument/2006/relationships/slide" Target="/ppt/slides/slide10.xml" Id="Rb575933b9a0e43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01c853ffc546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6965c93b6e41c1" /><Relationship Type="http://schemas.openxmlformats.org/officeDocument/2006/relationships/notesMaster" Target="/ppt/notesMasters/notesMaster1.xml" Id="Re5ad3aee16b548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99f57d6ef247b8" /><Relationship Type="http://schemas.openxmlformats.org/officeDocument/2006/relationships/notesMaster" Target="/ppt/notesMasters/notesMaster1.xml" Id="R9da6b5f388764c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62f2e052c3477e" /><Relationship Type="http://schemas.openxmlformats.org/officeDocument/2006/relationships/notesMaster" Target="/ppt/notesMasters/notesMaster1.xml" Id="R346b3ed0637e47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5873a15e574906" /><Relationship Type="http://schemas.openxmlformats.org/officeDocument/2006/relationships/notesMaster" Target="/ppt/notesMasters/notesMaster1.xml" Id="R070da309c7e5478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a393da14fb4b6a" /><Relationship Type="http://schemas.openxmlformats.org/officeDocument/2006/relationships/notesMaster" Target="/ppt/notesMasters/notesMaster1.xml" Id="R2ce589405f5942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9429b85eb8943cc" /><Relationship Type="http://schemas.openxmlformats.org/officeDocument/2006/relationships/notesMaster" Target="/ppt/notesMasters/notesMaster1.xml" Id="R890ce7144c154ea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fc768d290a244a8" /><Relationship Type="http://schemas.openxmlformats.org/officeDocument/2006/relationships/notesMaster" Target="/ppt/notesMasters/notesMaster1.xml" Id="R6f727b5d255941d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1b8daad30494690" /><Relationship Type="http://schemas.openxmlformats.org/officeDocument/2006/relationships/notesMaster" Target="/ppt/notesMasters/notesMaster1.xml" Id="R8bd0467f0df8489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d92e5a642514eb3" /><Relationship Type="http://schemas.openxmlformats.org/officeDocument/2006/relationships/notesMaster" Target="/ppt/notesMasters/notesMaster1.xml" Id="R1237a205bd15466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be5a220113f4c2c" /><Relationship Type="http://schemas.openxmlformats.org/officeDocument/2006/relationships/notesMaster" Target="/ppt/notesMasters/notesMaster1.xml" Id="Rb213b78d32124e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FIX&amp;GO .docx, material entregado por el equipo.</a:t>
            </a:r>
          </a:p>
          <a:p xmlns:a="http://schemas.openxmlformats.org/drawingml/2006/main">
            <a:r>
              <a:t>- Canva final FIX&amp;GO, material entregado por el equipo.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docs/00-official-source.md</a:t>
            </a:r>
          </a:p>
          <a:p xmlns:a="http://schemas.openxmlformats.org/drawingml/2006/main">
            <a:r>
              <a:t>- docs/01-product-brief.md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docs/01-product-brief.md</a:t>
            </a:r>
          </a:p>
          <a:p xmlns:a="http://schemas.openxmlformats.org/drawingml/2006/main">
            <a:r>
              <a:t>- docs/08-project-management-plan.md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docs/02-product-requirements.md</a:t>
            </a:r>
          </a:p>
          <a:p xmlns:a="http://schemas.openxmlformats.org/drawingml/2006/main">
            <a:r>
              <a:t>- docs/03-domain-model.md</a:t>
            </a:r>
          </a:p>
          <a:p xmlns:a="http://schemas.openxmlformats.org/drawingml/2006/main">
            <a:r>
              <a:t>- ADR 002 — Servicio contratado como centro operacional.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docs/02-product-requirements.md</a:t>
            </a:r>
          </a:p>
          <a:p xmlns:a="http://schemas.openxmlformats.org/drawingml/2006/main">
            <a:r>
              <a:t>- docs/07-quality-strategy.md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docs/05-technical-architecture.md</a:t>
            </a:r>
          </a:p>
          <a:p xmlns:a="http://schemas.openxmlformats.org/drawingml/2006/main">
            <a:r>
              <a:t>- ADR 003 — Monolito modular para el inicio.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docs/06-roadmap.md</a:t>
            </a:r>
          </a:p>
          <a:p xmlns:a="http://schemas.openxmlformats.org/drawingml/2006/main">
            <a:r>
              <a:t>- docs/08-project-management-plan.md</a:t>
            </a:r>
          </a:p>
          <a:p xmlns:a="http://schemas.openxmlformats.org/drawingml/2006/main">
            <a:r>
              <a:t>- Supuesto de planificación: 8 horas semanales por integrante.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docs/00-official-source.md</a:t>
            </a:r>
          </a:p>
          <a:p xmlns:a="http://schemas.openxmlformats.org/drawingml/2006/main">
            <a:r>
              <a:t>- docs/08-project-management-plan.md</a:t>
            </a:r>
          </a:p>
          <a:p xmlns:a="http://schemas.openxmlformats.org/drawingml/2006/main">
            <a:r>
              <a:t>- Montos en CLP; techo de gasto propuesto, no comprometido.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FIX&amp;GO .docx, matriz de interesados.</a:t>
            </a:r>
          </a:p>
          <a:p xmlns:a="http://schemas.openxmlformats.org/drawingml/2006/main">
            <a:r>
              <a:t>- docs/08-project-management-plan.md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docs/08-project-management-plan.md</a:t>
            </a:r>
          </a:p>
          <a:p xmlns:a="http://schemas.openxmlformats.org/drawingml/2006/main">
            <a:r>
              <a:t>- docs/06-roadmap.md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7985a94a444d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060c923c0048d8" /><Relationship Type="http://schemas.openxmlformats.org/officeDocument/2006/relationships/slideLayout" Target="/ppt/slideLayouts/slideLayout1.xml" Id="Rea24eadb12564f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24eadb12564f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99d743c4af44b9" /><Relationship Type="http://schemas.openxmlformats.org/officeDocument/2006/relationships/image" Target="/ppt/media/image.jpeg" Id="R28ed972803c14206" /><Relationship Type="http://schemas.openxmlformats.org/officeDocument/2006/relationships/notesSlide" Target="/ppt/notesSlides/notesSlide1.xml" Id="R0523d96152db4f0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b4aabb7692475b" /><Relationship Type="http://schemas.openxmlformats.org/officeDocument/2006/relationships/notesSlide" Target="/ppt/notesSlides/notesSlide2.xml" Id="R558754db041d49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9c19db30d94c5e" /><Relationship Type="http://schemas.openxmlformats.org/officeDocument/2006/relationships/notesSlide" Target="/ppt/notesSlides/notesSlide3.xml" Id="Rcbf304ba9a5746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2a704fa83a4b48" /><Relationship Type="http://schemas.openxmlformats.org/officeDocument/2006/relationships/notesSlide" Target="/ppt/notesSlides/notesSlide4.xml" Id="Re0077e5f7ab9435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fc26764ae14317" /><Relationship Type="http://schemas.openxmlformats.org/officeDocument/2006/relationships/notesSlide" Target="/ppt/notesSlides/notesSlide5.xml" Id="R8dc6b76c78ae4df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be9973a39f4223" /><Relationship Type="http://schemas.openxmlformats.org/officeDocument/2006/relationships/notesSlide" Target="/ppt/notesSlides/notesSlide6.xml" Id="R75ec07321c074ff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c07facd2ee4af7" /><Relationship Type="http://schemas.openxmlformats.org/officeDocument/2006/relationships/notesSlide" Target="/ppt/notesSlides/notesSlide7.xml" Id="R0c5727e76e8348a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7ce5039c3847bf" /><Relationship Type="http://schemas.openxmlformats.org/officeDocument/2006/relationships/notesSlide" Target="/ppt/notesSlides/notesSlide8.xml" Id="R23d83bd2353a4fa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85bcb1fc474689" /><Relationship Type="http://schemas.openxmlformats.org/officeDocument/2006/relationships/notesSlide" Target="/ppt/notesSlides/notesSlide9.xml" Id="R5c741784de60425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430ab7c83140aa" /><Relationship Type="http://schemas.openxmlformats.org/officeDocument/2006/relationships/notesSlide" Target="/ppt/notesSlides/notesSlide10.xml" Id="R893f1e30d62840e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navy-band">
            <a:extLst xmlns:a="http://schemas.openxmlformats.org/drawingml/2006/main">
              <a:ext uri="{FF2B5EF4-FFF2-40B4-BE49-F238E27FC236}">
                <a16:creationId xmlns:a16="http://schemas.microsoft.com/office/drawing/2014/main" id="{7451228A-982F-4E37-8DBB-1C7FF21A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19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hase">
            <a:extLst xmlns:a="http://schemas.openxmlformats.org/drawingml/2006/main">
              <a:ext uri="{FF2B5EF4-FFF2-40B4-BE49-F238E27FC236}">
                <a16:creationId xmlns:a16="http://schemas.microsoft.com/office/drawing/2014/main" id="{FF1C1A9B-3BF4-4511-A34B-247580FB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C445"/>
                </a:solidFill>
              </a:defRPr>
            </a:pPr>
            <a:r>
              <a:rPr sz="1275" b="1">
                <a:solidFill>
                  <a:srgbClr val="F6C445"/>
                </a:solidFill>
              </a:rPr>
              <a:t>FASE 1 · DEFINICIÓN DEL PROYECTO</a:t>
            </a:r>
          </a:p>
        </p:txBody>
      </p:sp>
      <p:sp>
        <p:nvSpPr>
          <p:cNvPr id="3" name="capstone">
            <a:extLst xmlns:a="http://schemas.openxmlformats.org/drawingml/2006/main">
              <a:ext uri="{FF2B5EF4-FFF2-40B4-BE49-F238E27FC236}">
                <a16:creationId xmlns:a16="http://schemas.microsoft.com/office/drawing/2014/main" id="{6AE3A134-FF04-43A9-9DD3-C7797CA6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95450"/>
            <a:ext cx="2667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MVP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CAPSTONE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CB27E631-2CAD-4A28-881E-D525F00F8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APT122 · Sección 005D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Equipo por definir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ed972803c14206"/>
          <a:stretch xmlns:a="http://schemas.openxmlformats.org/drawingml/2006/main"/>
        </p:blipFill>
        <p:spPr>
          <a:xfrm xmlns:a="http://schemas.openxmlformats.org/drawingml/2006/main">
            <a:off x="4714875" y="1143000"/>
            <a:ext cx="5715000" cy="3810000"/>
          </a:xfrm>
          <a:prstGeom xmlns:a="http://schemas.openxmlformats.org/drawingml/2006/main" prst="rect">
            <a:avLst/>
          </a:prstGeom>
        </p:spPr>
      </p:pic>
      <p:sp>
        <p:nvSpPr>
          <p:cNvPr id="6" name="team">
            <a:extLst xmlns:a="http://schemas.openxmlformats.org/drawingml/2006/main">
              <a:ext uri="{FF2B5EF4-FFF2-40B4-BE49-F238E27FC236}">
                <a16:creationId xmlns:a16="http://schemas.microsoft.com/office/drawing/2014/main" id="{04F4D289-19E5-4F71-80F1-A46F3CCB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715000"/>
            <a:ext cx="676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Benjamín Olmedo  ·  Daniel Baeza  ·  Felipe Arce</a:t>
            </a:r>
          </a:p>
        </p:txBody>
      </p:sp>
    </p:spTree>
    <p:extLst>
      <p:ext uri="{BB962C8B-B14F-4D97-AF65-F5344CB8AC3E}">
        <p14:creationId xmlns:p14="http://schemas.microsoft.com/office/powerpoint/2010/main" val="15351071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500257BA-FC65-418D-8871-9D038353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C445"/>
                </a:solidFill>
              </a:defRPr>
            </a:pPr>
            <a:r>
              <a:rPr sz="1125" b="1">
                <a:solidFill>
                  <a:srgbClr val="F6C445"/>
                </a:solidFill>
              </a:rPr>
              <a:t>FIX &amp; GO · CAPSTONE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86D8E9C-86D4-4D73-B181-5F46E7A3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El problema no es encontrar un contacto; es confiar en él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F494F16-2BA6-4895-8BEE-4DD3673F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ead">
            <a:extLst xmlns:a="http://schemas.openxmlformats.org/drawingml/2006/main">
              <a:ext uri="{FF2B5EF4-FFF2-40B4-BE49-F238E27FC236}">
                <a16:creationId xmlns:a16="http://schemas.microsoft.com/office/drawing/2014/main" id="{85405E9B-DE57-40E7-A025-9E862E63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B3A"/>
                </a:solidFill>
              </a:defRPr>
            </a:pPr>
            <a:r>
              <a:rPr sz="1875" b="1">
                <a:solidFill>
                  <a:srgbClr val="172B3A"/>
                </a:solidFill>
              </a:rPr>
              <a:t>Hoy la contratación se reparte entre recomendaciones, redes sociales y acuerdos informales.</a:t>
            </a:r>
          </a:p>
        </p:txBody>
      </p:sp>
      <p:sp>
        <p:nvSpPr>
          <p:cNvPr id="5" name="problem-dot-0">
            <a:extLst xmlns:a="http://schemas.openxmlformats.org/drawingml/2006/main">
              <a:ext uri="{FF2B5EF4-FFF2-40B4-BE49-F238E27FC236}">
                <a16:creationId xmlns:a16="http://schemas.microsoft.com/office/drawing/2014/main" id="{F334103E-EC85-45A4-ABB9-2804AA80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C4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roblem-0">
            <a:extLst xmlns:a="http://schemas.openxmlformats.org/drawingml/2006/main">
              <a:ext uri="{FF2B5EF4-FFF2-40B4-BE49-F238E27FC236}">
                <a16:creationId xmlns:a16="http://schemas.microsoft.com/office/drawing/2014/main" id="{64DCA30E-CC7F-41CC-B96A-2664D270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6591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</a:defRPr>
            </a:pPr>
            <a:r>
              <a:rPr sz="1575" b="0">
                <a:solidFill>
                  <a:srgbClr val="172B3A"/>
                </a:solidFill>
              </a:rPr>
              <a:t>Credenciales y experiencia difíciles de comprobar.</a:t>
            </a:r>
          </a:p>
        </p:txBody>
      </p:sp>
      <p:sp>
        <p:nvSpPr>
          <p:cNvPr id="7" name="problem-dot-1">
            <a:extLst xmlns:a="http://schemas.openxmlformats.org/drawingml/2006/main">
              <a:ext uri="{FF2B5EF4-FFF2-40B4-BE49-F238E27FC236}">
                <a16:creationId xmlns:a16="http://schemas.microsoft.com/office/drawing/2014/main" id="{62EADC8B-A181-4197-8BBC-FEF6CB23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671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C4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oblem-1">
            <a:extLst xmlns:a="http://schemas.openxmlformats.org/drawingml/2006/main">
              <a:ext uri="{FF2B5EF4-FFF2-40B4-BE49-F238E27FC236}">
                <a16:creationId xmlns:a16="http://schemas.microsoft.com/office/drawing/2014/main" id="{DCC63D35-1B42-4373-9847-F774007E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90900"/>
            <a:ext cx="6591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</a:defRPr>
            </a:pPr>
            <a:r>
              <a:rPr sz="1575" b="0">
                <a:solidFill>
                  <a:srgbClr val="172B3A"/>
                </a:solidFill>
              </a:rPr>
              <a:t>Precio, alcance y disponibilidad poco comparables.</a:t>
            </a:r>
          </a:p>
        </p:txBody>
      </p:sp>
      <p:sp>
        <p:nvSpPr>
          <p:cNvPr id="9" name="problem-dot-2">
            <a:extLst xmlns:a="http://schemas.openxmlformats.org/drawingml/2006/main">
              <a:ext uri="{FF2B5EF4-FFF2-40B4-BE49-F238E27FC236}">
                <a16:creationId xmlns:a16="http://schemas.microsoft.com/office/drawing/2014/main" id="{4864321F-E2AE-43DF-B9A8-E2A54649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76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C4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oblem-2">
            <a:extLst xmlns:a="http://schemas.openxmlformats.org/drawingml/2006/main">
              <a:ext uri="{FF2B5EF4-FFF2-40B4-BE49-F238E27FC236}">
                <a16:creationId xmlns:a16="http://schemas.microsoft.com/office/drawing/2014/main" id="{974E3D09-DE87-42A3-B23D-5F09F726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6591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</a:defRPr>
            </a:pPr>
            <a:r>
              <a:rPr sz="1575" b="0">
                <a:solidFill>
                  <a:srgbClr val="172B3A"/>
                </a:solidFill>
              </a:rPr>
              <a:t>Conversaciones, cambios y pagos sin trazabilidad.</a:t>
            </a:r>
          </a:p>
        </p:txBody>
      </p:sp>
      <p:sp>
        <p:nvSpPr>
          <p:cNvPr id="11" name="problem-dot-3">
            <a:extLst xmlns:a="http://schemas.openxmlformats.org/drawingml/2006/main">
              <a:ext uri="{FF2B5EF4-FFF2-40B4-BE49-F238E27FC236}">
                <a16:creationId xmlns:a16="http://schemas.microsoft.com/office/drawing/2014/main" id="{1D0B41C9-C8F3-4AA3-A315-29846D57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C4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oblem-3">
            <a:extLst xmlns:a="http://schemas.openxmlformats.org/drawingml/2006/main">
              <a:ext uri="{FF2B5EF4-FFF2-40B4-BE49-F238E27FC236}">
                <a16:creationId xmlns:a16="http://schemas.microsoft.com/office/drawing/2014/main" id="{31AC822D-CF23-4523-B30E-B3A8D39B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0100"/>
            <a:ext cx="6591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</a:defRPr>
            </a:pPr>
            <a:r>
              <a:rPr sz="1575" b="0">
                <a:solidFill>
                  <a:srgbClr val="172B3A"/>
                </a:solidFill>
              </a:rPr>
              <a:t>Profesionales formales compiten sin una reputación verificable.</a:t>
            </a:r>
          </a:p>
        </p:txBody>
      </p:sp>
      <p:sp>
        <p:nvSpPr>
          <p:cNvPr id="13" name="insight-frame">
            <a:extLst xmlns:a="http://schemas.openxmlformats.org/drawingml/2006/main">
              <a:ext uri="{FF2B5EF4-FFF2-40B4-BE49-F238E27FC236}">
                <a16:creationId xmlns:a16="http://schemas.microsoft.com/office/drawing/2014/main" id="{3436E49C-F20E-4452-B645-1268B2BC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47875"/>
            <a:ext cx="2857500" cy="3238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insight-number">
            <a:extLst xmlns:a="http://schemas.openxmlformats.org/drawingml/2006/main">
              <a:ext uri="{FF2B5EF4-FFF2-40B4-BE49-F238E27FC236}">
                <a16:creationId xmlns:a16="http://schemas.microsoft.com/office/drawing/2014/main" id="{0DBF34E2-6B43-4D3A-8132-4C403F05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00300"/>
            <a:ext cx="1981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F6C445"/>
                </a:solidFill>
              </a:defRPr>
            </a:pPr>
            <a:r>
              <a:rPr sz="4800" b="1">
                <a:solidFill>
                  <a:srgbClr val="F6C445"/>
                </a:solidFill>
              </a:rPr>
              <a:t>3</a:t>
            </a:r>
          </a:p>
        </p:txBody>
      </p:sp>
      <p:sp>
        <p:nvSpPr>
          <p:cNvPr id="15" name="insight-title">
            <a:extLst xmlns:a="http://schemas.openxmlformats.org/drawingml/2006/main">
              <a:ext uri="{FF2B5EF4-FFF2-40B4-BE49-F238E27FC236}">
                <a16:creationId xmlns:a16="http://schemas.microsoft.com/office/drawing/2014/main" id="{44F4FD40-2E39-4315-A80F-2A18A028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20040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categorías iniciales</a:t>
            </a:r>
          </a:p>
        </p:txBody>
      </p:sp>
      <p:sp>
        <p:nvSpPr>
          <p:cNvPr id="16" name="insight-list">
            <a:extLst xmlns:a="http://schemas.openxmlformats.org/drawingml/2006/main">
              <a:ext uri="{FF2B5EF4-FFF2-40B4-BE49-F238E27FC236}">
                <a16:creationId xmlns:a16="http://schemas.microsoft.com/office/drawing/2014/main" id="{1B42B5DB-44DC-47DE-BE44-1A3621EC8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86200"/>
            <a:ext cx="1905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FFFFFF"/>
                </a:solidFill>
              </a:defRPr>
            </a:pPr>
            <a:r>
              <a:rPr sz="2025" b="0">
                <a:solidFill>
                  <a:srgbClr val="FFFFFF"/>
                </a:solidFill>
              </a:rPr>
              <a:t>Gas</a:t>
            </a:r>
          </a:p>
          <a:p xmlns:a="http://schemas.openxmlformats.org/drawingml/2006/main">
            <a:pPr algn="ctr">
              <a:defRPr sz="2025" b="0">
                <a:solidFill>
                  <a:srgbClr val="FFFFFF"/>
                </a:solidFill>
              </a:defRPr>
            </a:pPr>
            <a:r>
              <a:rPr sz="2025" b="0">
                <a:solidFill>
                  <a:srgbClr val="FFFFFF"/>
                </a:solidFill>
              </a:rPr>
              <a:t>Electricidad</a:t>
            </a:r>
          </a:p>
          <a:p xmlns:a="http://schemas.openxmlformats.org/drawingml/2006/main">
            <a:pPr algn="ctr">
              <a:defRPr sz="2025" b="0">
                <a:solidFill>
                  <a:srgbClr val="FFFFFF"/>
                </a:solidFill>
              </a:defRPr>
            </a:pPr>
            <a:r>
              <a:rPr sz="2025" b="0">
                <a:solidFill>
                  <a:srgbClr val="FFFFFF"/>
                </a:solidFill>
              </a:rPr>
              <a:t>Agua</a:t>
            </a:r>
          </a:p>
        </p:txBody>
      </p:sp>
      <p:sp>
        <p:nvSpPr>
          <p:cNvPr id="17" name="footer-2">
            <a:extLst xmlns:a="http://schemas.openxmlformats.org/drawingml/2006/main">
              <a:ext uri="{FF2B5EF4-FFF2-40B4-BE49-F238E27FC236}">
                <a16:creationId xmlns:a16="http://schemas.microsoft.com/office/drawing/2014/main" id="{6E7194A0-0E94-4806-8F9A-0F86D3F1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6D"/>
                </a:solidFill>
              </a:defRPr>
            </a:pPr>
            <a:r>
              <a:rPr sz="825" b="0">
                <a:solidFill>
                  <a:srgbClr val="52606D"/>
                </a:solidFill>
              </a:rPr>
              <a:t>APT122-005D  ·  Benjamín Olmedo  ·  Daniel Baeza  ·  Felipe Arce</a:t>
            </a:r>
          </a:p>
        </p:txBody>
      </p:sp>
      <p:sp>
        <p:nvSpPr>
          <p:cNvPr id="18" name="page-2">
            <a:extLst xmlns:a="http://schemas.openxmlformats.org/drawingml/2006/main">
              <a:ext uri="{FF2B5EF4-FFF2-40B4-BE49-F238E27FC236}">
                <a16:creationId xmlns:a16="http://schemas.microsoft.com/office/drawing/2014/main" id="{2BD62F2B-F182-4227-8F56-B062D09E9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579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02A43"/>
                </a:solidFill>
              </a:defRPr>
            </a:pPr>
            <a:r>
              <a:rPr sz="900" b="1">
                <a:solidFill>
                  <a:srgbClr val="102A43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038059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kicker">
            <a:extLst xmlns:a="http://schemas.openxmlformats.org/drawingml/2006/main">
              <a:ext uri="{FF2B5EF4-FFF2-40B4-BE49-F238E27FC236}">
                <a16:creationId xmlns:a16="http://schemas.microsoft.com/office/drawing/2014/main" id="{8535FA37-53FD-499A-AD93-4B78B3BA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C445"/>
                </a:solidFill>
              </a:defRPr>
            </a:pPr>
            <a:r>
              <a:rPr sz="1125" b="1">
                <a:solidFill>
                  <a:srgbClr val="F6C445"/>
                </a:solidFill>
              </a:rPr>
              <a:t>FIX &amp; GO · CAPSTONE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89AF745-4E5D-4AF1-8111-5556D2D5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El Capstone valida el recorrido sin operar servicios reales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10EBB1B9-9A48-481F-ADDD-2AC24CBD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ope-in-title">
            <a:extLst xmlns:a="http://schemas.openxmlformats.org/drawingml/2006/main">
              <a:ext uri="{FF2B5EF4-FFF2-40B4-BE49-F238E27FC236}">
                <a16:creationId xmlns:a16="http://schemas.microsoft.com/office/drawing/2014/main" id="{C671CA26-16BB-43FB-963A-9FD00EA9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</a:defRPr>
            </a:pPr>
            <a:r>
              <a:rPr sz="1650" b="1">
                <a:solidFill>
                  <a:srgbClr val="087A55"/>
                </a:solidFill>
              </a:rPr>
              <a:t>INCLUYE</a:t>
            </a:r>
          </a:p>
        </p:txBody>
      </p:sp>
      <p:sp>
        <p:nvSpPr>
          <p:cNvPr id="5" name="scope-in-dot-0">
            <a:extLst xmlns:a="http://schemas.openxmlformats.org/drawingml/2006/main">
              <a:ext uri="{FF2B5EF4-FFF2-40B4-BE49-F238E27FC236}">
                <a16:creationId xmlns:a16="http://schemas.microsoft.com/office/drawing/2014/main" id="{C2EDD770-7250-4CAB-9DB0-AB83FDFE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cope-in-0">
            <a:extLst xmlns:a="http://schemas.openxmlformats.org/drawingml/2006/main">
              <a:ext uri="{FF2B5EF4-FFF2-40B4-BE49-F238E27FC236}">
                <a16:creationId xmlns:a16="http://schemas.microsoft.com/office/drawing/2014/main" id="{9634D8D1-DED7-4005-93D2-E33E0C08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449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3A"/>
                </a:solidFill>
              </a:defRPr>
            </a:pPr>
            <a:r>
              <a:rPr sz="1500" b="0">
                <a:solidFill>
                  <a:srgbClr val="172B3A"/>
                </a:solidFill>
              </a:rPr>
              <a:t>Cliente, profesional y administrador.</a:t>
            </a:r>
          </a:p>
        </p:txBody>
      </p:sp>
      <p:sp>
        <p:nvSpPr>
          <p:cNvPr id="7" name="scope-in-dot-1">
            <a:extLst xmlns:a="http://schemas.openxmlformats.org/drawingml/2006/main">
              <a:ext uri="{FF2B5EF4-FFF2-40B4-BE49-F238E27FC236}">
                <a16:creationId xmlns:a16="http://schemas.microsoft.com/office/drawing/2014/main" id="{7C6D4DBD-353F-440E-942D-E1303FE0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04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cope-in-1">
            <a:extLst xmlns:a="http://schemas.openxmlformats.org/drawingml/2006/main">
              <a:ext uri="{FF2B5EF4-FFF2-40B4-BE49-F238E27FC236}">
                <a16:creationId xmlns:a16="http://schemas.microsoft.com/office/drawing/2014/main" id="{5C13702D-D602-4CF5-AD8C-B0FFCE74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24200"/>
            <a:ext cx="449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3A"/>
                </a:solidFill>
              </a:defRPr>
            </a:pPr>
            <a:r>
              <a:rPr sz="1500" b="0">
                <a:solidFill>
                  <a:srgbClr val="172B3A"/>
                </a:solidFill>
              </a:rPr>
              <a:t>Búsqueda, perfil, solicitud y cotización.</a:t>
            </a:r>
          </a:p>
        </p:txBody>
      </p:sp>
      <p:sp>
        <p:nvSpPr>
          <p:cNvPr id="9" name="scope-in-dot-2">
            <a:extLst xmlns:a="http://schemas.openxmlformats.org/drawingml/2006/main">
              <a:ext uri="{FF2B5EF4-FFF2-40B4-BE49-F238E27FC236}">
                <a16:creationId xmlns:a16="http://schemas.microsoft.com/office/drawing/2014/main" id="{86A4492E-5106-4107-AA96-80AD8E46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cope-in-2">
            <a:extLst xmlns:a="http://schemas.openxmlformats.org/drawingml/2006/main">
              <a:ext uri="{FF2B5EF4-FFF2-40B4-BE49-F238E27FC236}">
                <a16:creationId xmlns:a16="http://schemas.microsoft.com/office/drawing/2014/main" id="{FA94CB23-DC04-4FB1-95B3-8E098BB47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449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3A"/>
                </a:solidFill>
              </a:defRPr>
            </a:pPr>
            <a:r>
              <a:rPr sz="1500" b="0">
                <a:solidFill>
                  <a:srgbClr val="172B3A"/>
                </a:solidFill>
              </a:rPr>
              <a:t>Seguimiento, mensajes y evaluación.</a:t>
            </a:r>
          </a:p>
        </p:txBody>
      </p:sp>
      <p:sp>
        <p:nvSpPr>
          <p:cNvPr id="11" name="scope-in-dot-3">
            <a:extLst xmlns:a="http://schemas.openxmlformats.org/drawingml/2006/main">
              <a:ext uri="{FF2B5EF4-FFF2-40B4-BE49-F238E27FC236}">
                <a16:creationId xmlns:a16="http://schemas.microsoft.com/office/drawing/2014/main" id="{B2A6E991-25F9-4C97-9FEE-7D42C63C9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cope-in-3">
            <a:extLst xmlns:a="http://schemas.openxmlformats.org/drawingml/2006/main">
              <a:ext uri="{FF2B5EF4-FFF2-40B4-BE49-F238E27FC236}">
                <a16:creationId xmlns:a16="http://schemas.microsoft.com/office/drawing/2014/main" id="{BB3B5CDC-28FF-4C32-BD91-4259DFC1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19600"/>
            <a:ext cx="449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3A"/>
                </a:solidFill>
              </a:defRPr>
            </a:pPr>
            <a:r>
              <a:rPr sz="1500" b="0">
                <a:solidFill>
                  <a:srgbClr val="172B3A"/>
                </a:solidFill>
              </a:rPr>
              <a:t>Verificación y pago simulados.</a:t>
            </a:r>
          </a:p>
        </p:txBody>
      </p:sp>
      <p:sp>
        <p:nvSpPr>
          <p:cNvPr id="13" name="divider">
            <a:extLst xmlns:a="http://schemas.openxmlformats.org/drawingml/2006/main">
              <a:ext uri="{FF2B5EF4-FFF2-40B4-BE49-F238E27FC236}">
                <a16:creationId xmlns:a16="http://schemas.microsoft.com/office/drawing/2014/main" id="{FCF3DB49-6541-41D9-B52C-BF43F376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00250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cope-out-title">
            <a:extLst xmlns:a="http://schemas.openxmlformats.org/drawingml/2006/main">
              <a:ext uri="{FF2B5EF4-FFF2-40B4-BE49-F238E27FC236}">
                <a16:creationId xmlns:a16="http://schemas.microsoft.com/office/drawing/2014/main" id="{DF7FCC28-129F-420A-80BB-65BB158B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5262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18"/>
                </a:solidFill>
              </a:defRPr>
            </a:pPr>
            <a:r>
              <a:rPr sz="1650" b="1">
                <a:solidFill>
                  <a:srgbClr val="B42318"/>
                </a:solidFill>
              </a:rPr>
              <a:t>NO INCLUYE</a:t>
            </a:r>
          </a:p>
        </p:txBody>
      </p:sp>
      <p:sp>
        <p:nvSpPr>
          <p:cNvPr id="15" name="scope-out-dot-0">
            <a:extLst xmlns:a="http://schemas.openxmlformats.org/drawingml/2006/main">
              <a:ext uri="{FF2B5EF4-FFF2-40B4-BE49-F238E27FC236}">
                <a16:creationId xmlns:a16="http://schemas.microsoft.com/office/drawing/2014/main" id="{8F9BB87D-3AA9-4FED-A4F8-3FD4996F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52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cope-out-0">
            <a:extLst xmlns:a="http://schemas.openxmlformats.org/drawingml/2006/main">
              <a:ext uri="{FF2B5EF4-FFF2-40B4-BE49-F238E27FC236}">
                <a16:creationId xmlns:a16="http://schemas.microsoft.com/office/drawing/2014/main" id="{3A2AF5FA-FAC8-453C-BEC5-4C293F39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76500"/>
            <a:ext cx="449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3A"/>
                </a:solidFill>
              </a:defRPr>
            </a:pPr>
            <a:r>
              <a:rPr sz="1500" b="0">
                <a:solidFill>
                  <a:srgbClr val="172B3A"/>
                </a:solidFill>
              </a:rPr>
              <a:t>Dinero, documentos o direcciones reales.</a:t>
            </a:r>
          </a:p>
        </p:txBody>
      </p:sp>
      <p:sp>
        <p:nvSpPr>
          <p:cNvPr id="17" name="scope-out-dot-1">
            <a:extLst xmlns:a="http://schemas.openxmlformats.org/drawingml/2006/main">
              <a:ext uri="{FF2B5EF4-FFF2-40B4-BE49-F238E27FC236}">
                <a16:creationId xmlns:a16="http://schemas.microsoft.com/office/drawing/2014/main" id="{ABB3A1CF-FDEF-46B2-AA8C-E762A2B1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004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cope-out-1">
            <a:extLst xmlns:a="http://schemas.openxmlformats.org/drawingml/2006/main">
              <a:ext uri="{FF2B5EF4-FFF2-40B4-BE49-F238E27FC236}">
                <a16:creationId xmlns:a16="http://schemas.microsoft.com/office/drawing/2014/main" id="{5C6696F0-749E-47C4-8C41-93E88FAD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24200"/>
            <a:ext cx="449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3A"/>
                </a:solidFill>
              </a:defRPr>
            </a:pPr>
            <a:r>
              <a:rPr sz="1500" b="0">
                <a:solidFill>
                  <a:srgbClr val="172B3A"/>
                </a:solidFill>
              </a:rPr>
              <a:t>Operación pública o publicación en tiendas.</a:t>
            </a:r>
          </a:p>
        </p:txBody>
      </p:sp>
      <p:sp>
        <p:nvSpPr>
          <p:cNvPr id="19" name="scope-out-dot-2">
            <a:extLst xmlns:a="http://schemas.openxmlformats.org/drawingml/2006/main">
              <a:ext uri="{FF2B5EF4-FFF2-40B4-BE49-F238E27FC236}">
                <a16:creationId xmlns:a16="http://schemas.microsoft.com/office/drawing/2014/main" id="{05834675-AD7C-4051-8E7A-EE8FF7E2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481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cope-out-2">
            <a:extLst xmlns:a="http://schemas.openxmlformats.org/drawingml/2006/main">
              <a:ext uri="{FF2B5EF4-FFF2-40B4-BE49-F238E27FC236}">
                <a16:creationId xmlns:a16="http://schemas.microsoft.com/office/drawing/2014/main" id="{ED6A95F2-A2CA-41A3-9E43-46CA5D9A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771900"/>
            <a:ext cx="449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3A"/>
                </a:solidFill>
              </a:defRPr>
            </a:pPr>
            <a:r>
              <a:rPr sz="1500" b="0">
                <a:solidFill>
                  <a:srgbClr val="172B3A"/>
                </a:solidFill>
              </a:rPr>
              <a:t>Nuevas categorías, IA o microservicios.</a:t>
            </a:r>
          </a:p>
        </p:txBody>
      </p:sp>
      <p:sp>
        <p:nvSpPr>
          <p:cNvPr id="21" name="scope-out-dot-3">
            <a:extLst xmlns:a="http://schemas.openxmlformats.org/drawingml/2006/main">
              <a:ext uri="{FF2B5EF4-FFF2-40B4-BE49-F238E27FC236}">
                <a16:creationId xmlns:a16="http://schemas.microsoft.com/office/drawing/2014/main" id="{B2CBC47C-B516-4EE0-B102-E554C837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958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cope-out-3">
            <a:extLst xmlns:a="http://schemas.openxmlformats.org/drawingml/2006/main">
              <a:ext uri="{FF2B5EF4-FFF2-40B4-BE49-F238E27FC236}">
                <a16:creationId xmlns:a16="http://schemas.microsoft.com/office/drawing/2014/main" id="{E15991A3-85EE-415B-94D8-D965CF92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419600"/>
            <a:ext cx="449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3A"/>
                </a:solidFill>
              </a:defRPr>
            </a:pPr>
            <a:r>
              <a:rPr sz="1500" b="0">
                <a:solidFill>
                  <a:srgbClr val="172B3A"/>
                </a:solidFill>
              </a:rPr>
              <a:t>Garantías legales sobre trabajos de terceros.</a:t>
            </a:r>
          </a:p>
        </p:txBody>
      </p:sp>
      <p:sp>
        <p:nvSpPr>
          <p:cNvPr id="23" name="footer-3">
            <a:extLst xmlns:a="http://schemas.openxmlformats.org/drawingml/2006/main">
              <a:ext uri="{FF2B5EF4-FFF2-40B4-BE49-F238E27FC236}">
                <a16:creationId xmlns:a16="http://schemas.microsoft.com/office/drawing/2014/main" id="{890B3919-E86B-413A-ACAC-6D63D1128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6D"/>
                </a:solidFill>
              </a:defRPr>
            </a:pPr>
            <a:r>
              <a:rPr sz="825" b="0">
                <a:solidFill>
                  <a:srgbClr val="52606D"/>
                </a:solidFill>
              </a:rPr>
              <a:t>APT122-005D  ·  Benjamín Olmedo  ·  Daniel Baeza  ·  Felipe Arce</a:t>
            </a:r>
          </a:p>
        </p:txBody>
      </p:sp>
      <p:sp>
        <p:nvSpPr>
          <p:cNvPr id="24" name="page-3">
            <a:extLst xmlns:a="http://schemas.openxmlformats.org/drawingml/2006/main">
              <a:ext uri="{FF2B5EF4-FFF2-40B4-BE49-F238E27FC236}">
                <a16:creationId xmlns:a16="http://schemas.microsoft.com/office/drawing/2014/main" id="{B1B6E1DC-89CA-4ED6-89BE-5709D38F5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579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02A43"/>
                </a:solidFill>
              </a:defRPr>
            </a:pPr>
            <a:r>
              <a:rPr sz="900" b="1">
                <a:solidFill>
                  <a:srgbClr val="102A43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353880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">
            <a:extLst xmlns:a="http://schemas.openxmlformats.org/drawingml/2006/main">
              <a:ext uri="{FF2B5EF4-FFF2-40B4-BE49-F238E27FC236}">
                <a16:creationId xmlns:a16="http://schemas.microsoft.com/office/drawing/2014/main" id="{CD2CBF35-53F6-47B1-A6F7-1D7AB7CC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C445"/>
                </a:solidFill>
              </a:defRPr>
            </a:pPr>
            <a:r>
              <a:rPr sz="1125" b="1">
                <a:solidFill>
                  <a:srgbClr val="F6C445"/>
                </a:solidFill>
              </a:rPr>
              <a:t>FIX &amp; GO · CAPSTONE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331F327-D4E6-4013-B7CA-E406E764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El servicio conecta necesidad, acuerdo y confianza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23C5C033-C580-4B88-9BF8-B1535D64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low-line-0">
            <a:extLst xmlns:a="http://schemas.openxmlformats.org/drawingml/2006/main">
              <a:ext uri="{FF2B5EF4-FFF2-40B4-BE49-F238E27FC236}">
                <a16:creationId xmlns:a16="http://schemas.microsoft.com/office/drawing/2014/main" id="{3ADDA0A9-BDE9-4110-BA56-389BB59F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432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age-0">
            <a:extLst xmlns:a="http://schemas.openxmlformats.org/drawingml/2006/main">
              <a:ext uri="{FF2B5EF4-FFF2-40B4-BE49-F238E27FC236}">
                <a16:creationId xmlns:a16="http://schemas.microsoft.com/office/drawing/2014/main" id="{6ACFEEAA-F13F-4C15-A6EC-7DCBE8F3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05050"/>
            <a:ext cx="224790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6" name="stage-num-0">
            <a:extLst xmlns:a="http://schemas.openxmlformats.org/drawingml/2006/main">
              <a:ext uri="{FF2B5EF4-FFF2-40B4-BE49-F238E27FC236}">
                <a16:creationId xmlns:a16="http://schemas.microsoft.com/office/drawing/2014/main" id="{F67E3B8B-B977-41C5-9126-61C9822F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438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1</a:t>
            </a:r>
          </a:p>
        </p:txBody>
      </p:sp>
      <p:sp>
        <p:nvSpPr>
          <p:cNvPr id="7" name="stage-title-0">
            <a:extLst xmlns:a="http://schemas.openxmlformats.org/drawingml/2006/main">
              <a:ext uri="{FF2B5EF4-FFF2-40B4-BE49-F238E27FC236}">
                <a16:creationId xmlns:a16="http://schemas.microsoft.com/office/drawing/2014/main" id="{E2EBEA6B-73C0-4AF0-BAA7-B368CBA9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33725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DESCUBRIR</a:t>
            </a:r>
          </a:p>
        </p:txBody>
      </p:sp>
      <p:sp>
        <p:nvSpPr>
          <p:cNvPr id="8" name="stage-copy-0">
            <a:extLst xmlns:a="http://schemas.openxmlformats.org/drawingml/2006/main">
              <a:ext uri="{FF2B5EF4-FFF2-40B4-BE49-F238E27FC236}">
                <a16:creationId xmlns:a16="http://schemas.microsoft.com/office/drawing/2014/main" id="{19D0804B-01DB-4461-91F4-5E022B4E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1828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Categoría, zona y perfil</a:t>
            </a:r>
          </a:p>
        </p:txBody>
      </p:sp>
      <p:sp>
        <p:nvSpPr>
          <p:cNvPr id="9" name="flow-line-1">
            <a:extLst xmlns:a="http://schemas.openxmlformats.org/drawingml/2006/main">
              <a:ext uri="{FF2B5EF4-FFF2-40B4-BE49-F238E27FC236}">
                <a16:creationId xmlns:a16="http://schemas.microsoft.com/office/drawing/2014/main" id="{CEED1EB8-EF9D-40B9-A57C-033D726E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1432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age-1">
            <a:extLst xmlns:a="http://schemas.openxmlformats.org/drawingml/2006/main">
              <a:ext uri="{FF2B5EF4-FFF2-40B4-BE49-F238E27FC236}">
                <a16:creationId xmlns:a16="http://schemas.microsoft.com/office/drawing/2014/main" id="{AD113763-6D36-4D18-9342-25E19E5A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05050"/>
            <a:ext cx="224790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1" name="stage-num-1">
            <a:extLst xmlns:a="http://schemas.openxmlformats.org/drawingml/2006/main">
              <a:ext uri="{FF2B5EF4-FFF2-40B4-BE49-F238E27FC236}">
                <a16:creationId xmlns:a16="http://schemas.microsoft.com/office/drawing/2014/main" id="{85D82222-6140-408A-A388-6A66689FB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14600"/>
            <a:ext cx="438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2</a:t>
            </a:r>
          </a:p>
        </p:txBody>
      </p:sp>
      <p:sp>
        <p:nvSpPr>
          <p:cNvPr id="12" name="stage-title-1">
            <a:extLst xmlns:a="http://schemas.openxmlformats.org/drawingml/2006/main">
              <a:ext uri="{FF2B5EF4-FFF2-40B4-BE49-F238E27FC236}">
                <a16:creationId xmlns:a16="http://schemas.microsoft.com/office/drawing/2014/main" id="{50249334-0D94-4F60-B543-724644E03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33725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ACORDAR</a:t>
            </a:r>
          </a:p>
        </p:txBody>
      </p:sp>
      <p:sp>
        <p:nvSpPr>
          <p:cNvPr id="13" name="stage-copy-1">
            <a:extLst xmlns:a="http://schemas.openxmlformats.org/drawingml/2006/main">
              <a:ext uri="{FF2B5EF4-FFF2-40B4-BE49-F238E27FC236}">
                <a16:creationId xmlns:a16="http://schemas.microsoft.com/office/drawing/2014/main" id="{BEAC6D7E-2BD1-4ECC-8B5E-513111CB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638550"/>
            <a:ext cx="1828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Solicitud y cotización</a:t>
            </a:r>
          </a:p>
        </p:txBody>
      </p:sp>
      <p:sp>
        <p:nvSpPr>
          <p:cNvPr id="14" name="flow-line-2">
            <a:extLst xmlns:a="http://schemas.openxmlformats.org/drawingml/2006/main">
              <a:ext uri="{FF2B5EF4-FFF2-40B4-BE49-F238E27FC236}">
                <a16:creationId xmlns:a16="http://schemas.microsoft.com/office/drawing/2014/main" id="{493C5824-2150-4A9E-9733-67B1DAC1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432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age-2">
            <a:extLst xmlns:a="http://schemas.openxmlformats.org/drawingml/2006/main">
              <a:ext uri="{FF2B5EF4-FFF2-40B4-BE49-F238E27FC236}">
                <a16:creationId xmlns:a16="http://schemas.microsoft.com/office/drawing/2014/main" id="{B5E71FB0-C900-4A2A-81D0-8134FB03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05050"/>
            <a:ext cx="224790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tage-num-2">
            <a:extLst xmlns:a="http://schemas.openxmlformats.org/drawingml/2006/main">
              <a:ext uri="{FF2B5EF4-FFF2-40B4-BE49-F238E27FC236}">
                <a16:creationId xmlns:a16="http://schemas.microsoft.com/office/drawing/2014/main" id="{B01D9398-23E5-4EE1-813D-A769BE21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14600"/>
            <a:ext cx="438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6C445"/>
                </a:solidFill>
              </a:defRPr>
            </a:pPr>
            <a:r>
              <a:rPr sz="2550" b="1">
                <a:solidFill>
                  <a:srgbClr val="F6C445"/>
                </a:solidFill>
              </a:rPr>
              <a:t>3</a:t>
            </a:r>
          </a:p>
        </p:txBody>
      </p:sp>
      <p:sp>
        <p:nvSpPr>
          <p:cNvPr id="17" name="stage-title-2">
            <a:extLst xmlns:a="http://schemas.openxmlformats.org/drawingml/2006/main">
              <a:ext uri="{FF2B5EF4-FFF2-40B4-BE49-F238E27FC236}">
                <a16:creationId xmlns:a16="http://schemas.microsoft.com/office/drawing/2014/main" id="{3477B40F-1A47-476F-9B8E-CFF0BA8B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33725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EJECUTAR</a:t>
            </a:r>
          </a:p>
        </p:txBody>
      </p:sp>
      <p:sp>
        <p:nvSpPr>
          <p:cNvPr id="18" name="stage-copy-2">
            <a:extLst xmlns:a="http://schemas.openxmlformats.org/drawingml/2006/main">
              <a:ext uri="{FF2B5EF4-FFF2-40B4-BE49-F238E27FC236}">
                <a16:creationId xmlns:a16="http://schemas.microsoft.com/office/drawing/2014/main" id="{1A4AE679-BB46-4224-B882-42336FAD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38550"/>
            <a:ext cx="1828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Agenda, mensajes y estado</a:t>
            </a:r>
          </a:p>
        </p:txBody>
      </p:sp>
      <p:sp>
        <p:nvSpPr>
          <p:cNvPr id="19" name="stage-3">
            <a:extLst xmlns:a="http://schemas.openxmlformats.org/drawingml/2006/main">
              <a:ext uri="{FF2B5EF4-FFF2-40B4-BE49-F238E27FC236}">
                <a16:creationId xmlns:a16="http://schemas.microsoft.com/office/drawing/2014/main" id="{43E6FF63-1E76-465D-AB5F-98625A66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05050"/>
            <a:ext cx="224790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0" name="stage-num-3">
            <a:extLst xmlns:a="http://schemas.openxmlformats.org/drawingml/2006/main">
              <a:ext uri="{FF2B5EF4-FFF2-40B4-BE49-F238E27FC236}">
                <a16:creationId xmlns:a16="http://schemas.microsoft.com/office/drawing/2014/main" id="{EADFAE9E-E0C3-4E48-9A68-C92C1C18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514600"/>
            <a:ext cx="438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4</a:t>
            </a:r>
          </a:p>
        </p:txBody>
      </p:sp>
      <p:sp>
        <p:nvSpPr>
          <p:cNvPr id="21" name="stage-title-3">
            <a:extLst xmlns:a="http://schemas.openxmlformats.org/drawingml/2006/main">
              <a:ext uri="{FF2B5EF4-FFF2-40B4-BE49-F238E27FC236}">
                <a16:creationId xmlns:a16="http://schemas.microsoft.com/office/drawing/2014/main" id="{16C42E1B-D384-4B15-905F-33B82AC4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133725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CERRAR</a:t>
            </a:r>
          </a:p>
        </p:txBody>
      </p:sp>
      <p:sp>
        <p:nvSpPr>
          <p:cNvPr id="22" name="stage-copy-3">
            <a:extLst xmlns:a="http://schemas.openxmlformats.org/drawingml/2006/main">
              <a:ext uri="{FF2B5EF4-FFF2-40B4-BE49-F238E27FC236}">
                <a16:creationId xmlns:a16="http://schemas.microsoft.com/office/drawing/2014/main" id="{651324F1-DEAC-45B4-B30F-12DB12B1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638550"/>
            <a:ext cx="1828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Pago simulado y evaluación</a:t>
            </a:r>
          </a:p>
        </p:txBody>
      </p:sp>
      <p:sp>
        <p:nvSpPr>
          <p:cNvPr id="23" name="flow-note">
            <a:extLst xmlns:a="http://schemas.openxmlformats.org/drawingml/2006/main">
              <a:ext uri="{FF2B5EF4-FFF2-40B4-BE49-F238E27FC236}">
                <a16:creationId xmlns:a16="http://schemas.microsoft.com/office/drawing/2014/main" id="{647B5049-1A93-4542-9F2E-1C48BD1E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991100"/>
            <a:ext cx="8801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ServiceJob mantiene unidos agenda, participantes, mensajes, pagos, disputa y reputación.</a:t>
            </a:r>
          </a:p>
        </p:txBody>
      </p:sp>
      <p:sp>
        <p:nvSpPr>
          <p:cNvPr id="24" name="footer-4">
            <a:extLst xmlns:a="http://schemas.openxmlformats.org/drawingml/2006/main">
              <a:ext uri="{FF2B5EF4-FFF2-40B4-BE49-F238E27FC236}">
                <a16:creationId xmlns:a16="http://schemas.microsoft.com/office/drawing/2014/main" id="{4F9BDD9C-137B-4A43-A143-3E06D571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6D"/>
                </a:solidFill>
              </a:defRPr>
            </a:pPr>
            <a:r>
              <a:rPr sz="825" b="0">
                <a:solidFill>
                  <a:srgbClr val="52606D"/>
                </a:solidFill>
              </a:rPr>
              <a:t>APT122-005D  ·  Benjamín Olmedo  ·  Daniel Baeza  ·  Felipe Arce</a:t>
            </a:r>
          </a:p>
        </p:txBody>
      </p:sp>
      <p:sp>
        <p:nvSpPr>
          <p:cNvPr id="25" name="page-4">
            <a:extLst xmlns:a="http://schemas.openxmlformats.org/drawingml/2006/main">
              <a:ext uri="{FF2B5EF4-FFF2-40B4-BE49-F238E27FC236}">
                <a16:creationId xmlns:a16="http://schemas.microsoft.com/office/drawing/2014/main" id="{8116C01A-4505-4681-9188-A2C0FA97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579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02A43"/>
                </a:solidFill>
              </a:defRPr>
            </a:pPr>
            <a:r>
              <a:rPr sz="900" b="1">
                <a:solidFill>
                  <a:srgbClr val="102A43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595931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icker">
            <a:extLst xmlns:a="http://schemas.openxmlformats.org/drawingml/2006/main">
              <a:ext uri="{FF2B5EF4-FFF2-40B4-BE49-F238E27FC236}">
                <a16:creationId xmlns:a16="http://schemas.microsoft.com/office/drawing/2014/main" id="{3E5FA7F2-EC16-4B89-8604-739ADF5F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C445"/>
                </a:solidFill>
              </a:defRPr>
            </a:pPr>
            <a:r>
              <a:rPr sz="1125" b="1">
                <a:solidFill>
                  <a:srgbClr val="F6C445"/>
                </a:solidFill>
              </a:rPr>
              <a:t>FIX &amp; GO · PROPUESTA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BE5AEC4-F2AD-4266-B9B3-5D8EEBFA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620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La confianza se diseña; no se promete</a:t>
            </a:r>
          </a:p>
        </p:txBody>
      </p:sp>
      <p:sp>
        <p:nvSpPr>
          <p:cNvPr id="3" name="diff-title-0">
            <a:extLst xmlns:a="http://schemas.openxmlformats.org/drawingml/2006/main">
              <a:ext uri="{FF2B5EF4-FFF2-40B4-BE49-F238E27FC236}">
                <a16:creationId xmlns:a16="http://schemas.microsoft.com/office/drawing/2014/main" id="{ABED6293-8405-4FF6-8A42-568AD93D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6C445"/>
                </a:solidFill>
              </a:defRPr>
            </a:pPr>
            <a:r>
              <a:rPr sz="1575" b="1">
                <a:solidFill>
                  <a:srgbClr val="F6C445"/>
                </a:solidFill>
              </a:rPr>
              <a:t>VERIFICACIÓN</a:t>
            </a:r>
          </a:p>
        </p:txBody>
      </p:sp>
      <p:sp>
        <p:nvSpPr>
          <p:cNvPr id="4" name="diff-copy-0">
            <a:extLst xmlns:a="http://schemas.openxmlformats.org/drawingml/2006/main">
              <a:ext uri="{FF2B5EF4-FFF2-40B4-BE49-F238E27FC236}">
                <a16:creationId xmlns:a16="http://schemas.microsoft.com/office/drawing/2014/main" id="{7FA9167D-BE3D-4528-968F-A8DC89C0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38350"/>
            <a:ext cx="733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Credenciales con estado, vigencia, revisor y motivo.</a:t>
            </a:r>
          </a:p>
        </p:txBody>
      </p:sp>
      <p:sp>
        <p:nvSpPr>
          <p:cNvPr id="5" name="diff-title-1">
            <a:extLst xmlns:a="http://schemas.openxmlformats.org/drawingml/2006/main">
              <a:ext uri="{FF2B5EF4-FFF2-40B4-BE49-F238E27FC236}">
                <a16:creationId xmlns:a16="http://schemas.microsoft.com/office/drawing/2014/main" id="{37A48E55-EA00-406C-8421-829283A1A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6C445"/>
                </a:solidFill>
              </a:defRPr>
            </a:pPr>
            <a:r>
              <a:rPr sz="1575" b="1">
                <a:solidFill>
                  <a:srgbClr val="F6C445"/>
                </a:solidFill>
              </a:rPr>
              <a:t>TRAZABILIDAD</a:t>
            </a:r>
          </a:p>
        </p:txBody>
      </p:sp>
      <p:sp>
        <p:nvSpPr>
          <p:cNvPr id="6" name="diff-copy-1">
            <a:extLst xmlns:a="http://schemas.openxmlformats.org/drawingml/2006/main">
              <a:ext uri="{FF2B5EF4-FFF2-40B4-BE49-F238E27FC236}">
                <a16:creationId xmlns:a16="http://schemas.microsoft.com/office/drawing/2014/main" id="{D2DE6542-1DED-4066-B583-D4C9751A2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90850"/>
            <a:ext cx="733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Cada transición conserva actor, fecha y contexto.</a:t>
            </a:r>
          </a:p>
        </p:txBody>
      </p:sp>
      <p:sp>
        <p:nvSpPr>
          <p:cNvPr id="7" name="diff-title-2">
            <a:extLst xmlns:a="http://schemas.openxmlformats.org/drawingml/2006/main">
              <a:ext uri="{FF2B5EF4-FFF2-40B4-BE49-F238E27FC236}">
                <a16:creationId xmlns:a16="http://schemas.microsoft.com/office/drawing/2014/main" id="{D53DED51-5EB4-4A51-A52F-3E1E97241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433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6C445"/>
                </a:solidFill>
              </a:defRPr>
            </a:pPr>
            <a:r>
              <a:rPr sz="1575" b="1">
                <a:solidFill>
                  <a:srgbClr val="F6C445"/>
                </a:solidFill>
              </a:rPr>
              <a:t>PAGO</a:t>
            </a:r>
          </a:p>
        </p:txBody>
      </p:sp>
      <p:sp>
        <p:nvSpPr>
          <p:cNvPr id="8" name="diff-copy-2">
            <a:extLst xmlns:a="http://schemas.openxmlformats.org/drawingml/2006/main">
              <a:ext uri="{FF2B5EF4-FFF2-40B4-BE49-F238E27FC236}">
                <a16:creationId xmlns:a16="http://schemas.microsoft.com/office/drawing/2014/main" id="{0C7BA229-B7DF-4FB8-B364-D93596E1B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43350"/>
            <a:ext cx="733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Proveedor externo, desglose e idempotencia.</a:t>
            </a:r>
          </a:p>
        </p:txBody>
      </p:sp>
      <p:sp>
        <p:nvSpPr>
          <p:cNvPr id="9" name="diff-title-3">
            <a:extLst xmlns:a="http://schemas.openxmlformats.org/drawingml/2006/main">
              <a:ext uri="{FF2B5EF4-FFF2-40B4-BE49-F238E27FC236}">
                <a16:creationId xmlns:a16="http://schemas.microsoft.com/office/drawing/2014/main" id="{1498097B-C027-4443-801B-A5EBEF37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958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6C445"/>
                </a:solidFill>
              </a:defRPr>
            </a:pPr>
            <a:r>
              <a:rPr sz="1575" b="1">
                <a:solidFill>
                  <a:srgbClr val="F6C445"/>
                </a:solidFill>
              </a:rPr>
              <a:t>REPUTACIÓN</a:t>
            </a:r>
          </a:p>
        </p:txBody>
      </p:sp>
      <p:sp>
        <p:nvSpPr>
          <p:cNvPr id="10" name="diff-copy-3">
            <a:extLst xmlns:a="http://schemas.openxmlformats.org/drawingml/2006/main">
              <a:ext uri="{FF2B5EF4-FFF2-40B4-BE49-F238E27FC236}">
                <a16:creationId xmlns:a16="http://schemas.microsoft.com/office/drawing/2014/main" id="{A67BA531-D736-4D3C-AA41-967303A6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95850"/>
            <a:ext cx="733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Solo servicios completados habilitan evaluaciones.</a:t>
            </a:r>
          </a:p>
        </p:txBody>
      </p:sp>
      <p:sp>
        <p:nvSpPr>
          <p:cNvPr id="11" name="bottom-rule">
            <a:extLst xmlns:a="http://schemas.openxmlformats.org/drawingml/2006/main">
              <a:ext uri="{FF2B5EF4-FFF2-40B4-BE49-F238E27FC236}">
                <a16:creationId xmlns:a16="http://schemas.microsoft.com/office/drawing/2014/main" id="{0A3FA1CB-C14B-4035-A101-5ADE3B00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769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imulation">
            <a:extLst xmlns:a="http://schemas.openxmlformats.org/drawingml/2006/main">
              <a:ext uri="{FF2B5EF4-FFF2-40B4-BE49-F238E27FC236}">
                <a16:creationId xmlns:a16="http://schemas.microsoft.com/office/drawing/2014/main" id="{C804589F-6CD5-48D9-8FAB-14A4841F5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293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9E2EC"/>
                </a:solidFill>
              </a:defRPr>
            </a:pPr>
            <a:r>
              <a:rPr sz="1275" b="0">
                <a:solidFill>
                  <a:srgbClr val="D9E2EC"/>
                </a:solidFill>
              </a:rPr>
              <a:t>En el MVP académico estas integraciones se simulan y se identifican claramente.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EAC0A259-2CF0-4E81-B2DF-D718D714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293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6C445"/>
                </a:solidFill>
              </a:defRPr>
            </a:pPr>
            <a:r>
              <a:rPr sz="900" b="1">
                <a:solidFill>
                  <a:srgbClr val="F6C44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647138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84A3B661-E572-4214-A124-D599A29D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C445"/>
                </a:solidFill>
              </a:defRPr>
            </a:pPr>
            <a:r>
              <a:rPr sz="1125" b="1">
                <a:solidFill>
                  <a:srgbClr val="F6C445"/>
                </a:solidFill>
              </a:rPr>
              <a:t>FIX &amp; GO · CAPSTONE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F409B2D-33C8-489E-B345-B57FB3B1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Monolito modular: velocidad hoy, evolución mañana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F3BA2DE4-65E9-4684-8C18-36C87D3A9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ch-0">
            <a:extLst xmlns:a="http://schemas.openxmlformats.org/drawingml/2006/main">
              <a:ext uri="{FF2B5EF4-FFF2-40B4-BE49-F238E27FC236}">
                <a16:creationId xmlns:a16="http://schemas.microsoft.com/office/drawing/2014/main" id="{F9DE5578-F3D1-4A8C-AAB2-14B6923E8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2495550" cy="2076450"/>
          </a:xfrm>
          <a:prstGeom xmlns:a="http://schemas.openxmlformats.org/drawingml/2006/main" prst="roundRect">
            <a:avLst>
              <a:gd name="adj" fmla="val 7339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tech-title-0">
            <a:extLst xmlns:a="http://schemas.openxmlformats.org/drawingml/2006/main">
              <a:ext uri="{FF2B5EF4-FFF2-40B4-BE49-F238E27FC236}">
                <a16:creationId xmlns:a16="http://schemas.microsoft.com/office/drawing/2014/main" id="{E18EB375-371D-4070-864F-ABA674D8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05075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EXPERIENCIA</a:t>
            </a:r>
          </a:p>
        </p:txBody>
      </p:sp>
      <p:sp>
        <p:nvSpPr>
          <p:cNvPr id="6" name="tech-copy-0">
            <a:extLst xmlns:a="http://schemas.openxmlformats.org/drawingml/2006/main">
              <a:ext uri="{FF2B5EF4-FFF2-40B4-BE49-F238E27FC236}">
                <a16:creationId xmlns:a16="http://schemas.microsoft.com/office/drawing/2014/main" id="{6408079A-1F17-4037-8D23-10071F6D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95625"/>
            <a:ext cx="2076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B3A"/>
                </a:solidFill>
              </a:defRPr>
            </a:pPr>
            <a:r>
              <a:rPr sz="1500" b="0">
                <a:solidFill>
                  <a:srgbClr val="172B3A"/>
                </a:solidFill>
              </a:rPr>
              <a:t>React Native + Expo</a:t>
            </a:r>
          </a:p>
          <a:p xmlns:a="http://schemas.openxmlformats.org/drawingml/2006/main">
            <a:pPr algn="ctr">
              <a:defRPr sz="1500" b="0">
                <a:solidFill>
                  <a:srgbClr val="172B3A"/>
                </a:solidFill>
              </a:defRPr>
            </a:pPr>
            <a:r>
              <a:rPr sz="1500" b="0">
                <a:solidFill>
                  <a:srgbClr val="172B3A"/>
                </a:solidFill>
              </a:rPr>
              <a:t>Next.js + TypeScript</a:t>
            </a:r>
          </a:p>
        </p:txBody>
      </p:sp>
      <p:sp>
        <p:nvSpPr>
          <p:cNvPr id="7" name="tech-1">
            <a:extLst xmlns:a="http://schemas.openxmlformats.org/drawingml/2006/main">
              <a:ext uri="{FF2B5EF4-FFF2-40B4-BE49-F238E27FC236}">
                <a16:creationId xmlns:a16="http://schemas.microsoft.com/office/drawing/2014/main" id="{7D7ECD42-0A07-434D-AC3F-D202FC81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38375"/>
            <a:ext cx="2495550" cy="2076450"/>
          </a:xfrm>
          <a:prstGeom xmlns:a="http://schemas.openxmlformats.org/drawingml/2006/main" prst="roundRect">
            <a:avLst>
              <a:gd name="adj" fmla="val 7339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ch-title-1">
            <a:extLst xmlns:a="http://schemas.openxmlformats.org/drawingml/2006/main">
              <a:ext uri="{FF2B5EF4-FFF2-40B4-BE49-F238E27FC236}">
                <a16:creationId xmlns:a16="http://schemas.microsoft.com/office/drawing/2014/main" id="{61EEFE9E-40A1-45FD-99AF-8733E817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505075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6C445"/>
                </a:solidFill>
              </a:defRPr>
            </a:pPr>
            <a:r>
              <a:rPr sz="1500" b="1">
                <a:solidFill>
                  <a:srgbClr val="F6C445"/>
                </a:solidFill>
              </a:rPr>
              <a:t>NÚCLEO</a:t>
            </a:r>
          </a:p>
        </p:txBody>
      </p:sp>
      <p:sp>
        <p:nvSpPr>
          <p:cNvPr id="9" name="tech-copy-1">
            <a:extLst xmlns:a="http://schemas.openxmlformats.org/drawingml/2006/main">
              <a:ext uri="{FF2B5EF4-FFF2-40B4-BE49-F238E27FC236}">
                <a16:creationId xmlns:a16="http://schemas.microsoft.com/office/drawing/2014/main" id="{6D2935F4-3C6D-4372-AA29-BF1D644E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095625"/>
            <a:ext cx="2076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NestJS</a:t>
            </a:r>
          </a:p>
          <a:p xmlns:a="http://schemas.openxmlformats.org/drawingml/2006/main">
            <a:pPr algn="ctr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Módulos y adaptadores</a:t>
            </a:r>
          </a:p>
        </p:txBody>
      </p:sp>
      <p:sp>
        <p:nvSpPr>
          <p:cNvPr id="10" name="tech-2">
            <a:extLst xmlns:a="http://schemas.openxmlformats.org/drawingml/2006/main">
              <a:ext uri="{FF2B5EF4-FFF2-40B4-BE49-F238E27FC236}">
                <a16:creationId xmlns:a16="http://schemas.microsoft.com/office/drawing/2014/main" id="{F53A95E4-8AAC-42E2-B84C-91DABB9F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38375"/>
            <a:ext cx="2495550" cy="2076450"/>
          </a:xfrm>
          <a:prstGeom xmlns:a="http://schemas.openxmlformats.org/drawingml/2006/main" prst="roundRect">
            <a:avLst>
              <a:gd name="adj" fmla="val 7339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1" name="tech-title-2">
            <a:extLst xmlns:a="http://schemas.openxmlformats.org/drawingml/2006/main">
              <a:ext uri="{FF2B5EF4-FFF2-40B4-BE49-F238E27FC236}">
                <a16:creationId xmlns:a16="http://schemas.microsoft.com/office/drawing/2014/main" id="{238F59F9-D002-49D7-8D5A-9E8E0EA3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05075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DATOS</a:t>
            </a:r>
          </a:p>
        </p:txBody>
      </p:sp>
      <p:sp>
        <p:nvSpPr>
          <p:cNvPr id="12" name="tech-copy-2">
            <a:extLst xmlns:a="http://schemas.openxmlformats.org/drawingml/2006/main">
              <a:ext uri="{FF2B5EF4-FFF2-40B4-BE49-F238E27FC236}">
                <a16:creationId xmlns:a16="http://schemas.microsoft.com/office/drawing/2014/main" id="{17D3D732-92BB-41E5-AEC0-352381A2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95625"/>
            <a:ext cx="2076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B3A"/>
                </a:solidFill>
              </a:defRPr>
            </a:pPr>
            <a:r>
              <a:rPr sz="1500" b="0">
                <a:solidFill>
                  <a:srgbClr val="172B3A"/>
                </a:solidFill>
              </a:rPr>
              <a:t>PostgreSQL + PostGIS</a:t>
            </a:r>
          </a:p>
          <a:p xmlns:a="http://schemas.openxmlformats.org/drawingml/2006/main">
            <a:pPr algn="ctr">
              <a:defRPr sz="1500" b="0">
                <a:solidFill>
                  <a:srgbClr val="172B3A"/>
                </a:solidFill>
              </a:defRPr>
            </a:pPr>
            <a:r>
              <a:rPr sz="1500" b="0">
                <a:solidFill>
                  <a:srgbClr val="172B3A"/>
                </a:solidFill>
              </a:rPr>
              <a:t>Archivos S3 compatibles</a:t>
            </a:r>
          </a:p>
        </p:txBody>
      </p:sp>
      <p:sp>
        <p:nvSpPr>
          <p:cNvPr id="13" name="tech-3">
            <a:extLst xmlns:a="http://schemas.openxmlformats.org/drawingml/2006/main">
              <a:ext uri="{FF2B5EF4-FFF2-40B4-BE49-F238E27FC236}">
                <a16:creationId xmlns:a16="http://schemas.microsoft.com/office/drawing/2014/main" id="{F843E2FA-BA5B-4FE1-BC0F-4D5C5473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38375"/>
            <a:ext cx="2495550" cy="2076450"/>
          </a:xfrm>
          <a:prstGeom xmlns:a="http://schemas.openxmlformats.org/drawingml/2006/main" prst="roundRect">
            <a:avLst>
              <a:gd name="adj" fmla="val 7339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4" name="tech-title-3">
            <a:extLst xmlns:a="http://schemas.openxmlformats.org/drawingml/2006/main">
              <a:ext uri="{FF2B5EF4-FFF2-40B4-BE49-F238E27FC236}">
                <a16:creationId xmlns:a16="http://schemas.microsoft.com/office/drawing/2014/main" id="{AAF26456-7AA9-4089-BFE9-E257DD82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05075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OPERACIÓN</a:t>
            </a:r>
          </a:p>
        </p:txBody>
      </p:sp>
      <p:sp>
        <p:nvSpPr>
          <p:cNvPr id="15" name="tech-copy-3">
            <a:extLst xmlns:a="http://schemas.openxmlformats.org/drawingml/2006/main">
              <a:ext uri="{FF2B5EF4-FFF2-40B4-BE49-F238E27FC236}">
                <a16:creationId xmlns:a16="http://schemas.microsoft.com/office/drawing/2014/main" id="{419E68FD-5011-41BF-85CC-0C9AFC9A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095625"/>
            <a:ext cx="2076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B3A"/>
                </a:solidFill>
              </a:defRPr>
            </a:pPr>
            <a:r>
              <a:rPr sz="1500" b="0">
                <a:solidFill>
                  <a:srgbClr val="172B3A"/>
                </a:solidFill>
              </a:rPr>
              <a:t>OIDC · Redis</a:t>
            </a:r>
          </a:p>
          <a:p xmlns:a="http://schemas.openxmlformats.org/drawingml/2006/main">
            <a:pPr algn="ctr">
              <a:defRPr sz="1500" b="0">
                <a:solidFill>
                  <a:srgbClr val="172B3A"/>
                </a:solidFill>
              </a:defRPr>
            </a:pPr>
            <a:r>
              <a:rPr sz="1500" b="0">
                <a:solidFill>
                  <a:srgbClr val="172B3A"/>
                </a:solidFill>
              </a:rPr>
              <a:t>OpenTelemetry</a:t>
            </a:r>
          </a:p>
        </p:txBody>
      </p:sp>
      <p:sp>
        <p:nvSpPr>
          <p:cNvPr id="16" name="architecture-note">
            <a:extLst xmlns:a="http://schemas.openxmlformats.org/drawingml/2006/main">
              <a:ext uri="{FF2B5EF4-FFF2-40B4-BE49-F238E27FC236}">
                <a16:creationId xmlns:a16="http://schemas.microsoft.com/office/drawing/2014/main" id="{23E05E33-361A-491E-AD68-9E50F1C6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149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2606D"/>
                </a:solidFill>
              </a:defRPr>
            </a:pPr>
            <a:r>
              <a:rPr sz="1575" b="0">
                <a:solidFill>
                  <a:srgbClr val="52606D"/>
                </a:solidFill>
              </a:rPr>
              <a:t>Los proveedores de identidad, pagos y nube se eligen después de comparar soporte en Chile, costo y cumplimiento.</a:t>
            </a:r>
          </a:p>
        </p:txBody>
      </p:sp>
      <p:sp>
        <p:nvSpPr>
          <p:cNvPr id="17" name="footer-6">
            <a:extLst xmlns:a="http://schemas.openxmlformats.org/drawingml/2006/main">
              <a:ext uri="{FF2B5EF4-FFF2-40B4-BE49-F238E27FC236}">
                <a16:creationId xmlns:a16="http://schemas.microsoft.com/office/drawing/2014/main" id="{DB78714D-E0CF-4F2A-BAB6-656303E5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6D"/>
                </a:solidFill>
              </a:defRPr>
            </a:pPr>
            <a:r>
              <a:rPr sz="825" b="0">
                <a:solidFill>
                  <a:srgbClr val="52606D"/>
                </a:solidFill>
              </a:rPr>
              <a:t>APT122-005D  ·  Benjamín Olmedo  ·  Daniel Baeza  ·  Felipe Arce</a:t>
            </a:r>
          </a:p>
        </p:txBody>
      </p:sp>
      <p:sp>
        <p:nvSpPr>
          <p:cNvPr id="18" name="page-6">
            <a:extLst xmlns:a="http://schemas.openxmlformats.org/drawingml/2006/main">
              <a:ext uri="{FF2B5EF4-FFF2-40B4-BE49-F238E27FC236}">
                <a16:creationId xmlns:a16="http://schemas.microsoft.com/office/drawing/2014/main" id="{AE64346F-F383-44E0-9DF4-803F9CD7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579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02A43"/>
                </a:solidFill>
              </a:defRPr>
            </a:pPr>
            <a:r>
              <a:rPr sz="900" b="1">
                <a:solidFill>
                  <a:srgbClr val="102A43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686763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kicker">
            <a:extLst xmlns:a="http://schemas.openxmlformats.org/drawingml/2006/main">
              <a:ext uri="{FF2B5EF4-FFF2-40B4-BE49-F238E27FC236}">
                <a16:creationId xmlns:a16="http://schemas.microsoft.com/office/drawing/2014/main" id="{94464C25-BC53-4BFA-8E91-BFD03B82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C445"/>
                </a:solidFill>
              </a:defRPr>
            </a:pPr>
            <a:r>
              <a:rPr sz="1125" b="1">
                <a:solidFill>
                  <a:srgbClr val="F6C445"/>
                </a:solidFill>
              </a:rPr>
              <a:t>FIX &amp; GO · CAPSTONE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EBE4B3A-E780-4B87-81E3-115C7BAA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18 semanas convierten la visión en evidencia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094890C-B2B8-4317-B4AB-2FC5A9DAE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week-0">
            <a:extLst xmlns:a="http://schemas.openxmlformats.org/drawingml/2006/main">
              <a:ext uri="{FF2B5EF4-FFF2-40B4-BE49-F238E27FC236}">
                <a16:creationId xmlns:a16="http://schemas.microsoft.com/office/drawing/2014/main" id="{B76C2A2C-29D4-4F64-88F6-F82C825A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9334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week-text-0">
            <a:extLst xmlns:a="http://schemas.openxmlformats.org/drawingml/2006/main">
              <a:ext uri="{FF2B5EF4-FFF2-40B4-BE49-F238E27FC236}">
                <a16:creationId xmlns:a16="http://schemas.microsoft.com/office/drawing/2014/main" id="{CDF9279E-69E6-4148-84B5-6665F8FC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933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1–2</a:t>
            </a:r>
          </a:p>
        </p:txBody>
      </p:sp>
      <p:sp>
        <p:nvSpPr>
          <p:cNvPr id="6" name="phase-name-0">
            <a:extLst xmlns:a="http://schemas.openxmlformats.org/drawingml/2006/main">
              <a:ext uri="{FF2B5EF4-FFF2-40B4-BE49-F238E27FC236}">
                <a16:creationId xmlns:a16="http://schemas.microsoft.com/office/drawing/2014/main" id="{5118B7C4-3B1B-45E7-87E7-C9A293E8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9907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Definir</a:t>
            </a:r>
          </a:p>
        </p:txBody>
      </p:sp>
      <p:sp>
        <p:nvSpPr>
          <p:cNvPr id="7" name="phase-output-0">
            <a:extLst xmlns:a="http://schemas.openxmlformats.org/drawingml/2006/main">
              <a:ext uri="{FF2B5EF4-FFF2-40B4-BE49-F238E27FC236}">
                <a16:creationId xmlns:a16="http://schemas.microsoft.com/office/drawing/2014/main" id="{53ECC14B-EB19-4B9F-B176-A2580141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0977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</a:defRPr>
            </a:pPr>
            <a:r>
              <a:rPr sz="1425" b="0">
                <a:solidFill>
                  <a:srgbClr val="52606D"/>
                </a:solidFill>
              </a:rPr>
              <a:t>Alcance · entrevistas</a:t>
            </a:r>
          </a:p>
        </p:txBody>
      </p:sp>
      <p:sp>
        <p:nvSpPr>
          <p:cNvPr id="8" name="week-1">
            <a:extLst xmlns:a="http://schemas.openxmlformats.org/drawingml/2006/main">
              <a:ext uri="{FF2B5EF4-FFF2-40B4-BE49-F238E27FC236}">
                <a16:creationId xmlns:a16="http://schemas.microsoft.com/office/drawing/2014/main" id="{49297187-776D-44B2-AA32-29710DC6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9334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week-text-1">
            <a:extLst xmlns:a="http://schemas.openxmlformats.org/drawingml/2006/main">
              <a:ext uri="{FF2B5EF4-FFF2-40B4-BE49-F238E27FC236}">
                <a16:creationId xmlns:a16="http://schemas.microsoft.com/office/drawing/2014/main" id="{38F2FA5C-81E1-42CB-BC39-7F811490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933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3–4</a:t>
            </a:r>
          </a:p>
        </p:txBody>
      </p:sp>
      <p:sp>
        <p:nvSpPr>
          <p:cNvPr id="10" name="phase-name-1">
            <a:extLst xmlns:a="http://schemas.openxmlformats.org/drawingml/2006/main">
              <a:ext uri="{FF2B5EF4-FFF2-40B4-BE49-F238E27FC236}">
                <a16:creationId xmlns:a16="http://schemas.microsoft.com/office/drawing/2014/main" id="{CD33D325-971D-42CC-9658-BB913DF1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6574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Diseñar</a:t>
            </a:r>
          </a:p>
        </p:txBody>
      </p:sp>
      <p:sp>
        <p:nvSpPr>
          <p:cNvPr id="11" name="phase-output-1">
            <a:extLst xmlns:a="http://schemas.openxmlformats.org/drawingml/2006/main">
              <a:ext uri="{FF2B5EF4-FFF2-40B4-BE49-F238E27FC236}">
                <a16:creationId xmlns:a16="http://schemas.microsoft.com/office/drawing/2014/main" id="{E7AD13AE-3F39-4B98-9D3E-CA89745C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7652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</a:defRPr>
            </a:pPr>
            <a:r>
              <a:rPr sz="1425" b="0">
                <a:solidFill>
                  <a:srgbClr val="52606D"/>
                </a:solidFill>
              </a:rPr>
              <a:t>Requisitos · UX</a:t>
            </a:r>
          </a:p>
        </p:txBody>
      </p:sp>
      <p:sp>
        <p:nvSpPr>
          <p:cNvPr id="12" name="week-2">
            <a:extLst xmlns:a="http://schemas.openxmlformats.org/drawingml/2006/main">
              <a:ext uri="{FF2B5EF4-FFF2-40B4-BE49-F238E27FC236}">
                <a16:creationId xmlns:a16="http://schemas.microsoft.com/office/drawing/2014/main" id="{56396752-8000-4F98-B78A-8CDB557D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9334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week-text-2">
            <a:extLst xmlns:a="http://schemas.openxmlformats.org/drawingml/2006/main">
              <a:ext uri="{FF2B5EF4-FFF2-40B4-BE49-F238E27FC236}">
                <a16:creationId xmlns:a16="http://schemas.microsoft.com/office/drawing/2014/main" id="{E84D896B-C62F-420C-9582-F81390407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933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5–6</a:t>
            </a:r>
          </a:p>
        </p:txBody>
      </p:sp>
      <p:sp>
        <p:nvSpPr>
          <p:cNvPr id="14" name="phase-name-2">
            <a:extLst xmlns:a="http://schemas.openxmlformats.org/drawingml/2006/main">
              <a:ext uri="{FF2B5EF4-FFF2-40B4-BE49-F238E27FC236}">
                <a16:creationId xmlns:a16="http://schemas.microsoft.com/office/drawing/2014/main" id="{8B57E5D6-4C3C-4268-9803-72EA9388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3242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Preparar</a:t>
            </a:r>
          </a:p>
        </p:txBody>
      </p:sp>
      <p:sp>
        <p:nvSpPr>
          <p:cNvPr id="15" name="phase-output-2">
            <a:extLst xmlns:a="http://schemas.openxmlformats.org/drawingml/2006/main">
              <a:ext uri="{FF2B5EF4-FFF2-40B4-BE49-F238E27FC236}">
                <a16:creationId xmlns:a16="http://schemas.microsoft.com/office/drawing/2014/main" id="{C5114350-D8E8-4470-9408-5C1BA7BF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4327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</a:defRPr>
            </a:pPr>
            <a:r>
              <a:rPr sz="1425" b="0">
                <a:solidFill>
                  <a:srgbClr val="52606D"/>
                </a:solidFill>
              </a:rPr>
              <a:t>Arquitectura · datos</a:t>
            </a:r>
          </a:p>
        </p:txBody>
      </p:sp>
      <p:sp>
        <p:nvSpPr>
          <p:cNvPr id="16" name="week-3">
            <a:extLst xmlns:a="http://schemas.openxmlformats.org/drawingml/2006/main">
              <a:ext uri="{FF2B5EF4-FFF2-40B4-BE49-F238E27FC236}">
                <a16:creationId xmlns:a16="http://schemas.microsoft.com/office/drawing/2014/main" id="{20277CAC-972F-40B9-864B-676A31F0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52875"/>
            <a:ext cx="9334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6C4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week-text-3">
            <a:extLst xmlns:a="http://schemas.openxmlformats.org/drawingml/2006/main">
              <a:ext uri="{FF2B5EF4-FFF2-40B4-BE49-F238E27FC236}">
                <a16:creationId xmlns:a16="http://schemas.microsoft.com/office/drawing/2014/main" id="{094F4810-6EC6-4B75-A3E3-E316AA3C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9550"/>
            <a:ext cx="933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7–13</a:t>
            </a:r>
          </a:p>
        </p:txBody>
      </p:sp>
      <p:sp>
        <p:nvSpPr>
          <p:cNvPr id="18" name="phase-name-3">
            <a:extLst xmlns:a="http://schemas.openxmlformats.org/drawingml/2006/main">
              <a:ext uri="{FF2B5EF4-FFF2-40B4-BE49-F238E27FC236}">
                <a16:creationId xmlns:a16="http://schemas.microsoft.com/office/drawing/2014/main" id="{0DE6AF3C-B71F-4E3E-99EE-331292F6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9909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Construir</a:t>
            </a:r>
          </a:p>
        </p:txBody>
      </p:sp>
      <p:sp>
        <p:nvSpPr>
          <p:cNvPr id="19" name="phase-output-3">
            <a:extLst xmlns:a="http://schemas.openxmlformats.org/drawingml/2006/main">
              <a:ext uri="{FF2B5EF4-FFF2-40B4-BE49-F238E27FC236}">
                <a16:creationId xmlns:a16="http://schemas.microsoft.com/office/drawing/2014/main" id="{CE2B37CD-AB82-42DC-82D2-3E89FEB7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1002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</a:defRPr>
            </a:pPr>
            <a:r>
              <a:rPr sz="1425" b="0">
                <a:solidFill>
                  <a:srgbClr val="52606D"/>
                </a:solidFill>
              </a:rPr>
              <a:t>Flujo end-to-end</a:t>
            </a:r>
          </a:p>
        </p:txBody>
      </p:sp>
      <p:sp>
        <p:nvSpPr>
          <p:cNvPr id="20" name="week-4">
            <a:extLst xmlns:a="http://schemas.openxmlformats.org/drawingml/2006/main">
              <a:ext uri="{FF2B5EF4-FFF2-40B4-BE49-F238E27FC236}">
                <a16:creationId xmlns:a16="http://schemas.microsoft.com/office/drawing/2014/main" id="{8575BEAD-F320-47BE-A07A-E31864FA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9334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week-text-4">
            <a:extLst xmlns:a="http://schemas.openxmlformats.org/drawingml/2006/main">
              <a:ext uri="{FF2B5EF4-FFF2-40B4-BE49-F238E27FC236}">
                <a16:creationId xmlns:a16="http://schemas.microsoft.com/office/drawing/2014/main" id="{62D00993-E588-46EC-9B65-6A2DE962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933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14–16</a:t>
            </a:r>
          </a:p>
        </p:txBody>
      </p:sp>
      <p:sp>
        <p:nvSpPr>
          <p:cNvPr id="22" name="phase-name-4">
            <a:extLst xmlns:a="http://schemas.openxmlformats.org/drawingml/2006/main">
              <a:ext uri="{FF2B5EF4-FFF2-40B4-BE49-F238E27FC236}">
                <a16:creationId xmlns:a16="http://schemas.microsoft.com/office/drawing/2014/main" id="{4D614E84-0933-4068-8FEE-8B501891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6577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Validar</a:t>
            </a:r>
          </a:p>
        </p:txBody>
      </p:sp>
      <p:sp>
        <p:nvSpPr>
          <p:cNvPr id="23" name="phase-output-4">
            <a:extLst xmlns:a="http://schemas.openxmlformats.org/drawingml/2006/main">
              <a:ext uri="{FF2B5EF4-FFF2-40B4-BE49-F238E27FC236}">
                <a16:creationId xmlns:a16="http://schemas.microsoft.com/office/drawing/2014/main" id="{ECAC7277-1E56-4E9D-AF88-AD03ACF7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7677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</a:defRPr>
            </a:pPr>
            <a:r>
              <a:rPr sz="1425" b="0">
                <a:solidFill>
                  <a:srgbClr val="52606D"/>
                </a:solidFill>
              </a:rPr>
              <a:t>Calidad · usuarios</a:t>
            </a:r>
          </a:p>
        </p:txBody>
      </p:sp>
      <p:sp>
        <p:nvSpPr>
          <p:cNvPr id="24" name="week-5">
            <a:extLst xmlns:a="http://schemas.openxmlformats.org/drawingml/2006/main">
              <a:ext uri="{FF2B5EF4-FFF2-40B4-BE49-F238E27FC236}">
                <a16:creationId xmlns:a16="http://schemas.microsoft.com/office/drawing/2014/main" id="{609343D1-8807-4857-B625-A8277702A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9334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eek-text-5">
            <a:extLst xmlns:a="http://schemas.openxmlformats.org/drawingml/2006/main">
              <a:ext uri="{FF2B5EF4-FFF2-40B4-BE49-F238E27FC236}">
                <a16:creationId xmlns:a16="http://schemas.microsoft.com/office/drawing/2014/main" id="{205F01E2-532A-409A-8D21-7CD88282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53050"/>
            <a:ext cx="933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17–18</a:t>
            </a:r>
          </a:p>
        </p:txBody>
      </p:sp>
      <p:sp>
        <p:nvSpPr>
          <p:cNvPr id="26" name="phase-name-5">
            <a:extLst xmlns:a="http://schemas.openxmlformats.org/drawingml/2006/main">
              <a:ext uri="{FF2B5EF4-FFF2-40B4-BE49-F238E27FC236}">
                <a16:creationId xmlns:a16="http://schemas.microsoft.com/office/drawing/2014/main" id="{CAECF5B5-E515-4F6D-AB2D-1C948532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3244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Cerrar</a:t>
            </a:r>
          </a:p>
        </p:txBody>
      </p:sp>
      <p:sp>
        <p:nvSpPr>
          <p:cNvPr id="27" name="phase-output-5">
            <a:extLst xmlns:a="http://schemas.openxmlformats.org/drawingml/2006/main">
              <a:ext uri="{FF2B5EF4-FFF2-40B4-BE49-F238E27FC236}">
                <a16:creationId xmlns:a16="http://schemas.microsoft.com/office/drawing/2014/main" id="{A3D8D1DA-978D-4DA6-9FE7-A239C52A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4352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</a:defRPr>
            </a:pPr>
            <a:r>
              <a:rPr sz="1425" b="0">
                <a:solidFill>
                  <a:srgbClr val="52606D"/>
                </a:solidFill>
              </a:rPr>
              <a:t>Corrección · entrega</a:t>
            </a:r>
          </a:p>
        </p:txBody>
      </p:sp>
      <p:sp>
        <p:nvSpPr>
          <p:cNvPr id="28" name="capacity">
            <a:extLst xmlns:a="http://schemas.openxmlformats.org/drawingml/2006/main">
              <a:ext uri="{FF2B5EF4-FFF2-40B4-BE49-F238E27FC236}">
                <a16:creationId xmlns:a16="http://schemas.microsoft.com/office/drawing/2014/main" id="{E29048DD-BD1D-41A9-A883-BD3C6A01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47875"/>
            <a:ext cx="1981200" cy="3143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9" name="hours">
            <a:extLst xmlns:a="http://schemas.openxmlformats.org/drawingml/2006/main">
              <a:ext uri="{FF2B5EF4-FFF2-40B4-BE49-F238E27FC236}">
                <a16:creationId xmlns:a16="http://schemas.microsoft.com/office/drawing/2014/main" id="{CD0CAAD9-9453-4F2F-8DAA-A1FA9D93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81250"/>
            <a:ext cx="1485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102A43"/>
                </a:solidFill>
              </a:defRPr>
            </a:pPr>
            <a:r>
              <a:rPr sz="4350" b="1">
                <a:solidFill>
                  <a:srgbClr val="102A43"/>
                </a:solidFill>
              </a:rPr>
              <a:t>432</a:t>
            </a:r>
          </a:p>
        </p:txBody>
      </p:sp>
      <p:sp>
        <p:nvSpPr>
          <p:cNvPr id="30" name="hours-label">
            <a:extLst xmlns:a="http://schemas.openxmlformats.org/drawingml/2006/main">
              <a:ext uri="{FF2B5EF4-FFF2-40B4-BE49-F238E27FC236}">
                <a16:creationId xmlns:a16="http://schemas.microsoft.com/office/drawing/2014/main" id="{77E2CD2C-4F9B-4E44-91F5-18F5E581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086100"/>
            <a:ext cx="1600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2606D"/>
                </a:solidFill>
              </a:defRPr>
            </a:pPr>
            <a:r>
              <a:rPr sz="1425" b="0">
                <a:solidFill>
                  <a:srgbClr val="52606D"/>
                </a:solidFill>
              </a:rPr>
              <a:t>horas-persona</a:t>
            </a:r>
          </a:p>
          <a:p xmlns:a="http://schemas.openxmlformats.org/drawingml/2006/main">
            <a:pPr algn="ctr">
              <a:defRPr sz="1425" b="0">
                <a:solidFill>
                  <a:srgbClr val="52606D"/>
                </a:solidFill>
              </a:defRPr>
            </a:pPr>
            <a:r>
              <a:rPr sz="1425" b="0">
                <a:solidFill>
                  <a:srgbClr val="52606D"/>
                </a:solidFill>
              </a:rPr>
              <a:t>brutas</a:t>
            </a:r>
          </a:p>
        </p:txBody>
      </p:sp>
      <p:sp>
        <p:nvSpPr>
          <p:cNvPr id="31" name="reserve">
            <a:extLst xmlns:a="http://schemas.openxmlformats.org/drawingml/2006/main">
              <a:ext uri="{FF2B5EF4-FFF2-40B4-BE49-F238E27FC236}">
                <a16:creationId xmlns:a16="http://schemas.microsoft.com/office/drawing/2014/main" id="{68A7AC40-FF73-457A-84A0-74C722335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095750"/>
            <a:ext cx="1485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7A55"/>
                </a:solidFill>
              </a:defRPr>
            </a:pPr>
            <a:r>
              <a:rPr sz="1800" b="1">
                <a:solidFill>
                  <a:srgbClr val="087A55"/>
                </a:solidFill>
              </a:rPr>
              <a:t>15 %</a:t>
            </a:r>
          </a:p>
          <a:p xmlns:a="http://schemas.openxmlformats.org/drawingml/2006/main">
            <a:pPr algn="ctr">
              <a:defRPr sz="1800" b="1">
                <a:solidFill>
                  <a:srgbClr val="087A55"/>
                </a:solidFill>
              </a:defRPr>
            </a:pPr>
            <a:r>
              <a:rPr sz="1800" b="1">
                <a:solidFill>
                  <a:srgbClr val="087A55"/>
                </a:solidFill>
              </a:rPr>
              <a:t>reserva</a:t>
            </a:r>
          </a:p>
        </p:txBody>
      </p:sp>
      <p:sp>
        <p:nvSpPr>
          <p:cNvPr id="32" name="footer-7">
            <a:extLst xmlns:a="http://schemas.openxmlformats.org/drawingml/2006/main">
              <a:ext uri="{FF2B5EF4-FFF2-40B4-BE49-F238E27FC236}">
                <a16:creationId xmlns:a16="http://schemas.microsoft.com/office/drawing/2014/main" id="{9C6AA3B0-B44D-4547-8BBE-604558F6B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6D"/>
                </a:solidFill>
              </a:defRPr>
            </a:pPr>
            <a:r>
              <a:rPr sz="825" b="0">
                <a:solidFill>
                  <a:srgbClr val="52606D"/>
                </a:solidFill>
              </a:rPr>
              <a:t>APT122-005D  ·  Benjamín Olmedo  ·  Daniel Baeza  ·  Felipe Arce</a:t>
            </a:r>
          </a:p>
        </p:txBody>
      </p:sp>
      <p:sp>
        <p:nvSpPr>
          <p:cNvPr id="33" name="page-7">
            <a:extLst xmlns:a="http://schemas.openxmlformats.org/drawingml/2006/main">
              <a:ext uri="{FF2B5EF4-FFF2-40B4-BE49-F238E27FC236}">
                <a16:creationId xmlns:a16="http://schemas.microsoft.com/office/drawing/2014/main" id="{1135684D-A105-45EA-A291-D109A759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579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02A43"/>
                </a:solidFill>
              </a:defRPr>
            </a:pPr>
            <a:r>
              <a:rPr sz="900" b="1">
                <a:solidFill>
                  <a:srgbClr val="102A43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316978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kicker">
            <a:extLst xmlns:a="http://schemas.openxmlformats.org/drawingml/2006/main">
              <a:ext uri="{FF2B5EF4-FFF2-40B4-BE49-F238E27FC236}">
                <a16:creationId xmlns:a16="http://schemas.microsoft.com/office/drawing/2014/main" id="{C2C792FF-6496-4272-9B1F-FEC7546C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C445"/>
                </a:solidFill>
              </a:defRPr>
            </a:pPr>
            <a:r>
              <a:rPr sz="1125" b="1">
                <a:solidFill>
                  <a:srgbClr val="F6C445"/>
                </a:solidFill>
              </a:rPr>
              <a:t>FIX &amp; GO · CAPSTONE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0E9B52D-C600-4D86-A6F9-0AD93FAEC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El MVP parte en $0 y protege un techo de $150.000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46790956-6837-402E-AA86-B60A12A03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udget-lead">
            <a:extLst xmlns:a="http://schemas.openxmlformats.org/drawingml/2006/main">
              <a:ext uri="{FF2B5EF4-FFF2-40B4-BE49-F238E27FC236}">
                <a16:creationId xmlns:a16="http://schemas.microsoft.com/office/drawing/2014/main" id="{3AF1C4C8-1AE8-4CEF-A64E-FD010064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Aportes en especie</a:t>
            </a:r>
          </a:p>
        </p:txBody>
      </p:sp>
      <p:sp>
        <p:nvSpPr>
          <p:cNvPr id="5" name="in-kind-dot-0">
            <a:extLst xmlns:a="http://schemas.openxmlformats.org/drawingml/2006/main">
              <a:ext uri="{FF2B5EF4-FFF2-40B4-BE49-F238E27FC236}">
                <a16:creationId xmlns:a16="http://schemas.microsoft.com/office/drawing/2014/main" id="{C62C1BE9-ACB7-4924-A1AF-33115702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C4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in-kind-0">
            <a:extLst xmlns:a="http://schemas.openxmlformats.org/drawingml/2006/main">
              <a:ext uri="{FF2B5EF4-FFF2-40B4-BE49-F238E27FC236}">
                <a16:creationId xmlns:a16="http://schemas.microsoft.com/office/drawing/2014/main" id="{C331A183-4215-4AEE-88D7-DCE734E9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14600"/>
            <a:ext cx="4305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</a:defRPr>
            </a:pPr>
            <a:r>
              <a:rPr sz="1575" b="0">
                <a:solidFill>
                  <a:srgbClr val="172B3A"/>
                </a:solidFill>
              </a:rPr>
              <a:t>Tiempo del equipo</a:t>
            </a:r>
          </a:p>
        </p:txBody>
      </p:sp>
      <p:sp>
        <p:nvSpPr>
          <p:cNvPr id="7" name="in-kind-dot-1">
            <a:extLst xmlns:a="http://schemas.openxmlformats.org/drawingml/2006/main">
              <a:ext uri="{FF2B5EF4-FFF2-40B4-BE49-F238E27FC236}">
                <a16:creationId xmlns:a16="http://schemas.microsoft.com/office/drawing/2014/main" id="{285694BC-F11A-4D05-BA4A-93E9116BC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C4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in-kind-1">
            <a:extLst xmlns:a="http://schemas.openxmlformats.org/drawingml/2006/main">
              <a:ext uri="{FF2B5EF4-FFF2-40B4-BE49-F238E27FC236}">
                <a16:creationId xmlns:a16="http://schemas.microsoft.com/office/drawing/2014/main" id="{B9B50DCF-8416-4F8D-92DE-92D82D4D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4305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</a:defRPr>
            </a:pPr>
            <a:r>
              <a:rPr sz="1575" b="0">
                <a:solidFill>
                  <a:srgbClr val="172B3A"/>
                </a:solidFill>
              </a:rPr>
              <a:t>Computadores y conectividad</a:t>
            </a:r>
          </a:p>
        </p:txBody>
      </p:sp>
      <p:sp>
        <p:nvSpPr>
          <p:cNvPr id="9" name="in-kind-dot-2">
            <a:extLst xmlns:a="http://schemas.openxmlformats.org/drawingml/2006/main">
              <a:ext uri="{FF2B5EF4-FFF2-40B4-BE49-F238E27FC236}">
                <a16:creationId xmlns:a16="http://schemas.microsoft.com/office/drawing/2014/main" id="{48F41E3A-210C-4B3F-9DF4-CA4BC808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C4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in-kind-2">
            <a:extLst xmlns:a="http://schemas.openxmlformats.org/drawingml/2006/main">
              <a:ext uri="{FF2B5EF4-FFF2-40B4-BE49-F238E27FC236}">
                <a16:creationId xmlns:a16="http://schemas.microsoft.com/office/drawing/2014/main" id="{4F746C45-78FD-42CA-8EC8-3F6A72AD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4305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</a:defRPr>
            </a:pPr>
            <a:r>
              <a:rPr sz="1575" b="0">
                <a:solidFill>
                  <a:srgbClr val="172B3A"/>
                </a:solidFill>
              </a:rPr>
              <a:t>Herramientas gratuitas o educativas</a:t>
            </a:r>
          </a:p>
        </p:txBody>
      </p:sp>
      <p:sp>
        <p:nvSpPr>
          <p:cNvPr id="11" name="ceiling">
            <a:extLst xmlns:a="http://schemas.openxmlformats.org/drawingml/2006/main">
              <a:ext uri="{FF2B5EF4-FFF2-40B4-BE49-F238E27FC236}">
                <a16:creationId xmlns:a16="http://schemas.microsoft.com/office/drawing/2014/main" id="{D2F65323-E8E0-4C19-BE58-AD49A5DC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43100"/>
            <a:ext cx="4095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102A43"/>
                </a:solidFill>
              </a:defRPr>
            </a:pPr>
            <a:r>
              <a:rPr sz="4050" b="1">
                <a:solidFill>
                  <a:srgbClr val="102A43"/>
                </a:solidFill>
              </a:rPr>
              <a:t>$150.000</a:t>
            </a:r>
          </a:p>
        </p:txBody>
      </p:sp>
      <p:sp>
        <p:nvSpPr>
          <p:cNvPr id="12" name="ceiling-label">
            <a:extLst xmlns:a="http://schemas.openxmlformats.org/drawingml/2006/main">
              <a:ext uri="{FF2B5EF4-FFF2-40B4-BE49-F238E27FC236}">
                <a16:creationId xmlns:a16="http://schemas.microsoft.com/office/drawing/2014/main" id="{8BF8D03B-9941-4936-B1C9-217F202B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241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2606D"/>
                </a:solidFill>
              </a:defRPr>
            </a:pPr>
            <a:r>
              <a:rPr sz="1425" b="0">
                <a:solidFill>
                  <a:srgbClr val="52606D"/>
                </a:solidFill>
              </a:rPr>
              <a:t>techo de desembolso propuesto</a:t>
            </a:r>
          </a:p>
        </p:txBody>
      </p:sp>
      <p:sp>
        <p:nvSpPr>
          <p:cNvPr id="13" name="bar-label-0">
            <a:extLst xmlns:a="http://schemas.openxmlformats.org/drawingml/2006/main">
              <a:ext uri="{FF2B5EF4-FFF2-40B4-BE49-F238E27FC236}">
                <a16:creationId xmlns:a16="http://schemas.microsoft.com/office/drawing/2014/main" id="{51EC041F-E18D-473F-8A49-D299E73D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71850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B3A"/>
                </a:solidFill>
              </a:defRPr>
            </a:pPr>
            <a:r>
              <a:rPr sz="1200" b="0">
                <a:solidFill>
                  <a:srgbClr val="172B3A"/>
                </a:solidFill>
              </a:rPr>
              <a:t>Pruebas</a:t>
            </a:r>
          </a:p>
        </p:txBody>
      </p:sp>
      <p:sp>
        <p:nvSpPr>
          <p:cNvPr id="14" name="bar-bg-0">
            <a:extLst xmlns:a="http://schemas.openxmlformats.org/drawingml/2006/main">
              <a:ext uri="{FF2B5EF4-FFF2-40B4-BE49-F238E27FC236}">
                <a16:creationId xmlns:a16="http://schemas.microsoft.com/office/drawing/2014/main" id="{C535E803-D1F5-43F6-9EDE-07814DC0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09950"/>
            <a:ext cx="2667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ar-0">
            <a:extLst xmlns:a="http://schemas.openxmlformats.org/drawingml/2006/main">
              <a:ext uri="{FF2B5EF4-FFF2-40B4-BE49-F238E27FC236}">
                <a16:creationId xmlns:a16="http://schemas.microsoft.com/office/drawing/2014/main" id="{C690C174-7D4B-4D1E-B5F8-5B288009E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09950"/>
            <a:ext cx="25717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C4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r-value-0">
            <a:extLst xmlns:a="http://schemas.openxmlformats.org/drawingml/2006/main">
              <a:ext uri="{FF2B5EF4-FFF2-40B4-BE49-F238E27FC236}">
                <a16:creationId xmlns:a16="http://schemas.microsoft.com/office/drawing/2014/main" id="{657DE674-2964-4963-8751-E5A2E65F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36232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$60.000</a:t>
            </a:r>
          </a:p>
        </p:txBody>
      </p:sp>
      <p:sp>
        <p:nvSpPr>
          <p:cNvPr id="17" name="bar-label-1">
            <a:extLst xmlns:a="http://schemas.openxmlformats.org/drawingml/2006/main">
              <a:ext uri="{FF2B5EF4-FFF2-40B4-BE49-F238E27FC236}">
                <a16:creationId xmlns:a16="http://schemas.microsoft.com/office/drawing/2014/main" id="{78D1A614-39E6-4BA8-BC63-7ACF0C83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924300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B3A"/>
                </a:solidFill>
              </a:defRPr>
            </a:pPr>
            <a:r>
              <a:rPr sz="1200" b="0">
                <a:solidFill>
                  <a:srgbClr val="172B3A"/>
                </a:solidFill>
              </a:rPr>
              <a:t>Contingencia</a:t>
            </a:r>
          </a:p>
        </p:txBody>
      </p:sp>
      <p:sp>
        <p:nvSpPr>
          <p:cNvPr id="18" name="bar-bg-1">
            <a:extLst xmlns:a="http://schemas.openxmlformats.org/drawingml/2006/main">
              <a:ext uri="{FF2B5EF4-FFF2-40B4-BE49-F238E27FC236}">
                <a16:creationId xmlns:a16="http://schemas.microsoft.com/office/drawing/2014/main" id="{754C4CDD-94F0-4A65-B67A-85F01FCB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62400"/>
            <a:ext cx="2667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r-1">
            <a:extLst xmlns:a="http://schemas.openxmlformats.org/drawingml/2006/main">
              <a:ext uri="{FF2B5EF4-FFF2-40B4-BE49-F238E27FC236}">
                <a16:creationId xmlns:a16="http://schemas.microsoft.com/office/drawing/2014/main" id="{314C27A1-4C53-4F55-AE41-CC84ABD4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62400"/>
            <a:ext cx="1500188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F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ar-value-1">
            <a:extLst xmlns:a="http://schemas.openxmlformats.org/drawingml/2006/main">
              <a:ext uri="{FF2B5EF4-FFF2-40B4-BE49-F238E27FC236}">
                <a16:creationId xmlns:a16="http://schemas.microsoft.com/office/drawing/2014/main" id="{6817507C-252F-49AF-B62D-F71A257A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91477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$35.000</a:t>
            </a:r>
          </a:p>
        </p:txBody>
      </p:sp>
      <p:sp>
        <p:nvSpPr>
          <p:cNvPr id="21" name="bar-label-2">
            <a:extLst xmlns:a="http://schemas.openxmlformats.org/drawingml/2006/main">
              <a:ext uri="{FF2B5EF4-FFF2-40B4-BE49-F238E27FC236}">
                <a16:creationId xmlns:a16="http://schemas.microsoft.com/office/drawing/2014/main" id="{FAF8FE63-4290-4BCD-BDED-A701E04D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76750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B3A"/>
                </a:solidFill>
              </a:defRPr>
            </a:pPr>
            <a:r>
              <a:rPr sz="1200" b="0">
                <a:solidFill>
                  <a:srgbClr val="172B3A"/>
                </a:solidFill>
              </a:rPr>
              <a:t>Nube</a:t>
            </a:r>
          </a:p>
        </p:txBody>
      </p:sp>
      <p:sp>
        <p:nvSpPr>
          <p:cNvPr id="22" name="bar-bg-2">
            <a:extLst xmlns:a="http://schemas.openxmlformats.org/drawingml/2006/main">
              <a:ext uri="{FF2B5EF4-FFF2-40B4-BE49-F238E27FC236}">
                <a16:creationId xmlns:a16="http://schemas.microsoft.com/office/drawing/2014/main" id="{8C13B5A1-A402-45B7-88E7-CD58D990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14850"/>
            <a:ext cx="2667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ar-2">
            <a:extLst xmlns:a="http://schemas.openxmlformats.org/drawingml/2006/main">
              <a:ext uri="{FF2B5EF4-FFF2-40B4-BE49-F238E27FC236}">
                <a16:creationId xmlns:a16="http://schemas.microsoft.com/office/drawing/2014/main" id="{33B0EF10-1EA9-46A9-BAC0-68B7CC66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14850"/>
            <a:ext cx="1285875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F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ar-value-2">
            <a:extLst xmlns:a="http://schemas.openxmlformats.org/drawingml/2006/main">
              <a:ext uri="{FF2B5EF4-FFF2-40B4-BE49-F238E27FC236}">
                <a16:creationId xmlns:a16="http://schemas.microsoft.com/office/drawing/2014/main" id="{26BB7AA8-8AB1-4A57-BE21-88E41130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46722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$30.000</a:t>
            </a:r>
          </a:p>
        </p:txBody>
      </p:sp>
      <p:sp>
        <p:nvSpPr>
          <p:cNvPr id="25" name="bar-label-3">
            <a:extLst xmlns:a="http://schemas.openxmlformats.org/drawingml/2006/main">
              <a:ext uri="{FF2B5EF4-FFF2-40B4-BE49-F238E27FC236}">
                <a16:creationId xmlns:a16="http://schemas.microsoft.com/office/drawing/2014/main" id="{1F06BDFA-1294-4A9E-A020-DFAD1F13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029200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B3A"/>
                </a:solidFill>
              </a:defRPr>
            </a:pPr>
            <a:r>
              <a:rPr sz="1200" b="0">
                <a:solidFill>
                  <a:srgbClr val="172B3A"/>
                </a:solidFill>
              </a:rPr>
              <a:t>Publicación</a:t>
            </a:r>
          </a:p>
        </p:txBody>
      </p:sp>
      <p:sp>
        <p:nvSpPr>
          <p:cNvPr id="26" name="bar-bg-3">
            <a:extLst xmlns:a="http://schemas.openxmlformats.org/drawingml/2006/main">
              <a:ext uri="{FF2B5EF4-FFF2-40B4-BE49-F238E27FC236}">
                <a16:creationId xmlns:a16="http://schemas.microsoft.com/office/drawing/2014/main" id="{B2CE8429-3C95-41F1-B9E8-0F8F3E54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67300"/>
            <a:ext cx="2667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ar-3">
            <a:extLst xmlns:a="http://schemas.openxmlformats.org/drawingml/2006/main">
              <a:ext uri="{FF2B5EF4-FFF2-40B4-BE49-F238E27FC236}">
                <a16:creationId xmlns:a16="http://schemas.microsoft.com/office/drawing/2014/main" id="{A4DE27DC-27ED-40F2-845F-117CF2A1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67300"/>
            <a:ext cx="1071563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F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bar-value-3">
            <a:extLst xmlns:a="http://schemas.openxmlformats.org/drawingml/2006/main">
              <a:ext uri="{FF2B5EF4-FFF2-40B4-BE49-F238E27FC236}">
                <a16:creationId xmlns:a16="http://schemas.microsoft.com/office/drawing/2014/main" id="{53D3AD4C-C162-4728-AF5D-E1CF40E6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501967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$25.000</a:t>
            </a:r>
          </a:p>
        </p:txBody>
      </p:sp>
      <p:sp>
        <p:nvSpPr>
          <p:cNvPr id="29" name="commercial-note">
            <a:extLst xmlns:a="http://schemas.openxmlformats.org/drawingml/2006/main">
              <a:ext uri="{FF2B5EF4-FFF2-40B4-BE49-F238E27FC236}">
                <a16:creationId xmlns:a16="http://schemas.microsoft.com/office/drawing/2014/main" id="{D142ADBC-F8B2-491A-88F3-3702A2D7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4762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ommercial-copy">
            <a:extLst xmlns:a="http://schemas.openxmlformats.org/drawingml/2006/main">
              <a:ext uri="{FF2B5EF4-FFF2-40B4-BE49-F238E27FC236}">
                <a16:creationId xmlns:a16="http://schemas.microsoft.com/office/drawing/2014/main" id="{2FE376D9-BDEA-4C88-87EB-65F1BBBA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62550"/>
            <a:ext cx="434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42318"/>
                </a:solidFill>
              </a:defRPr>
            </a:pPr>
            <a:r>
              <a:rPr sz="1425" b="1">
                <a:solidFill>
                  <a:srgbClr val="B42318"/>
                </a:solidFill>
              </a:rPr>
              <a:t>$6.500.000 = escenario comercial antiguo por validar; no es el costo del Capstone.</a:t>
            </a:r>
          </a:p>
        </p:txBody>
      </p:sp>
      <p:sp>
        <p:nvSpPr>
          <p:cNvPr id="31" name="footer-8">
            <a:extLst xmlns:a="http://schemas.openxmlformats.org/drawingml/2006/main">
              <a:ext uri="{FF2B5EF4-FFF2-40B4-BE49-F238E27FC236}">
                <a16:creationId xmlns:a16="http://schemas.microsoft.com/office/drawing/2014/main" id="{5D5E438D-A56B-4303-93E2-925E046F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6D"/>
                </a:solidFill>
              </a:defRPr>
            </a:pPr>
            <a:r>
              <a:rPr sz="825" b="0">
                <a:solidFill>
                  <a:srgbClr val="52606D"/>
                </a:solidFill>
              </a:rPr>
              <a:t>APT122-005D  ·  Benjamín Olmedo  ·  Daniel Baeza  ·  Felipe Arce</a:t>
            </a:r>
          </a:p>
        </p:txBody>
      </p:sp>
      <p:sp>
        <p:nvSpPr>
          <p:cNvPr id="32" name="page-8">
            <a:extLst xmlns:a="http://schemas.openxmlformats.org/drawingml/2006/main">
              <a:ext uri="{FF2B5EF4-FFF2-40B4-BE49-F238E27FC236}">
                <a16:creationId xmlns:a16="http://schemas.microsoft.com/office/drawing/2014/main" id="{707827AD-B4EB-4F34-832A-2684E69B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579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02A43"/>
                </a:solidFill>
              </a:defRPr>
            </a:pPr>
            <a:r>
              <a:rPr sz="900" b="1">
                <a:solidFill>
                  <a:srgbClr val="102A43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264099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kicker">
            <a:extLst xmlns:a="http://schemas.openxmlformats.org/drawingml/2006/main">
              <a:ext uri="{FF2B5EF4-FFF2-40B4-BE49-F238E27FC236}">
                <a16:creationId xmlns:a16="http://schemas.microsoft.com/office/drawing/2014/main" id="{1DF0AA4C-97BA-4E1F-BC59-2A32D2F26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C445"/>
                </a:solidFill>
              </a:defRPr>
            </a:pPr>
            <a:r>
              <a:rPr sz="1125" b="1">
                <a:solidFill>
                  <a:srgbClr val="F6C445"/>
                </a:solidFill>
              </a:rPr>
              <a:t>FIX &amp; GO · CAPSTONE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36C75F6-AE5A-48C2-941E-7CCED4BB2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La gestión cambia según poder, interés y responsabilidad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AED1B9D-E26E-4877-BFF7-E22B4E471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45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723900" y="2000250"/>
          <a:ext xmlns:a="http://schemas.openxmlformats.org/drawingml/2006/main" cx="107442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2667000"/>
                <a:gridCol w="5029200"/>
              </a:tblGrid>
              <a:tr h="5397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INTERESADO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ESTRATEGIA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COMPROMISO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A43"/>
                          </a:solidFill>
                        </a:rPr>
                        <a:t>Equipo y docente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B3A"/>
                          </a:solidFill>
                        </a:rPr>
                        <a:t>Gestionar de cerca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B3A"/>
                          </a:solidFill>
                        </a:rPr>
                        <a:t>Plan semanal, evidencia y decisiones</a:t>
                      </a:r>
                    </a:p>
                  </a:txBody>
                  <a:tcPr marL="91440" marR="91440" marT="45720" marB="45720"/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A43"/>
                          </a:solidFill>
                        </a:rPr>
                        <a:t>Clientes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B3A"/>
                          </a:solidFill>
                        </a:rPr>
                        <a:t>Involucrar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B3A"/>
                          </a:solidFill>
                        </a:rPr>
                        <a:t>Probar confianza, privacidad y recorrido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A43"/>
                          </a:solidFill>
                        </a:rPr>
                        <a:t>Profesionales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B3A"/>
                          </a:solidFill>
                        </a:rPr>
                        <a:t>Involucrar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B3A"/>
                          </a:solidFill>
                        </a:rPr>
                        <a:t>Validar credenciales, comisión y operación</a:t>
                      </a:r>
                    </a:p>
                  </a:txBody>
                  <a:tcPr marL="91440" marR="91440" marT="45720" marB="45720"/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A43"/>
                          </a:solidFill>
                        </a:rPr>
                        <a:t>Proveedores y reguladores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B3A"/>
                          </a:solidFill>
                        </a:rPr>
                        <a:t>Mantener satisfechos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B3A"/>
                          </a:solidFill>
                        </a:rPr>
                        <a:t>Revisar límites, continuidad y cumplimiento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A43"/>
                          </a:solidFill>
                        </a:rPr>
                        <a:t>Inversionistas y competencia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B3A"/>
                          </a:solidFill>
                        </a:rPr>
                        <a:t>Informar / monitorear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B3A"/>
                          </a:solidFill>
                        </a:rPr>
                        <a:t>Usar evidencia; evitar promesas prematuras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governance">
            <a:extLst xmlns:a="http://schemas.openxmlformats.org/drawingml/2006/main">
              <a:ext uri="{FF2B5EF4-FFF2-40B4-BE49-F238E27FC236}">
                <a16:creationId xmlns:a16="http://schemas.microsoft.com/office/drawing/2014/main" id="{328249D5-D25D-424D-BA54-65B31C02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00700"/>
            <a:ext cx="971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Decisiones de alcance, dinero, publicación y datos reales requieren acuerdo de los tres integrantes.</a:t>
            </a:r>
          </a:p>
        </p:txBody>
      </p:sp>
      <p:sp>
        <p:nvSpPr>
          <p:cNvPr id="6" name="footer-9">
            <a:extLst xmlns:a="http://schemas.openxmlformats.org/drawingml/2006/main">
              <a:ext uri="{FF2B5EF4-FFF2-40B4-BE49-F238E27FC236}">
                <a16:creationId xmlns:a16="http://schemas.microsoft.com/office/drawing/2014/main" id="{3AD55A9B-F605-4155-9275-DEE00751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6D"/>
                </a:solidFill>
              </a:defRPr>
            </a:pPr>
            <a:r>
              <a:rPr sz="825" b="0">
                <a:solidFill>
                  <a:srgbClr val="52606D"/>
                </a:solidFill>
              </a:rPr>
              <a:t>APT122-005D  ·  Benjamín Olmedo  ·  Daniel Baeza  ·  Felipe Arce</a:t>
            </a:r>
          </a:p>
        </p:txBody>
      </p:sp>
      <p:sp>
        <p:nvSpPr>
          <p:cNvPr id="7" name="page-9">
            <a:extLst xmlns:a="http://schemas.openxmlformats.org/drawingml/2006/main">
              <a:ext uri="{FF2B5EF4-FFF2-40B4-BE49-F238E27FC236}">
                <a16:creationId xmlns:a16="http://schemas.microsoft.com/office/drawing/2014/main" id="{52B73754-DEB0-45C7-8FDB-D93CB151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579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02A43"/>
                </a:solidFill>
              </a:defRPr>
            </a:pPr>
            <a:r>
              <a:rPr sz="900" b="1">
                <a:solidFill>
                  <a:srgbClr val="102A43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006353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">
            <a:extLst xmlns:a="http://schemas.openxmlformats.org/drawingml/2006/main">
              <a:ext uri="{FF2B5EF4-FFF2-40B4-BE49-F238E27FC236}">
                <a16:creationId xmlns:a16="http://schemas.microsoft.com/office/drawing/2014/main" id="{9847E5C6-AEEA-4105-BC73-A85C097AF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C445"/>
                </a:solidFill>
              </a:defRPr>
            </a:pPr>
            <a:r>
              <a:rPr sz="1125" b="1">
                <a:solidFill>
                  <a:srgbClr val="F6C445"/>
                </a:solidFill>
              </a:rPr>
              <a:t>DECISIÓN DE LA FASE 1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0CF0CDA-A9E3-4706-8D89-68DC4187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76300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Fix &amp; Go es viable como Capstone si protegemos el alcance</a:t>
            </a:r>
          </a:p>
        </p:txBody>
      </p:sp>
      <p:sp>
        <p:nvSpPr>
          <p:cNvPr id="3" name="close-dot-0">
            <a:extLst xmlns:a="http://schemas.openxmlformats.org/drawingml/2006/main">
              <a:ext uri="{FF2B5EF4-FFF2-40B4-BE49-F238E27FC236}">
                <a16:creationId xmlns:a16="http://schemas.microsoft.com/office/drawing/2014/main" id="{B3013E4A-8336-4A19-9C3C-2C495AA5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C4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lose-0">
            <a:extLst xmlns:a="http://schemas.openxmlformats.org/drawingml/2006/main">
              <a:ext uri="{FF2B5EF4-FFF2-40B4-BE49-F238E27FC236}">
                <a16:creationId xmlns:a16="http://schemas.microsoft.com/office/drawing/2014/main" id="{EDA65E12-8E3D-412A-8A46-27F2E633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9067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Tres categorías, tres roles y un recorrido end-to-end.</a:t>
            </a:r>
          </a:p>
        </p:txBody>
      </p:sp>
      <p:sp>
        <p:nvSpPr>
          <p:cNvPr id="5" name="close-dot-1">
            <a:extLst xmlns:a="http://schemas.openxmlformats.org/drawingml/2006/main">
              <a:ext uri="{FF2B5EF4-FFF2-40B4-BE49-F238E27FC236}">
                <a16:creationId xmlns:a16="http://schemas.microsoft.com/office/drawing/2014/main" id="{7CEA18C7-BBCE-4982-A4E2-D9EB05CC6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C4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lose-1">
            <a:extLst xmlns:a="http://schemas.openxmlformats.org/drawingml/2006/main">
              <a:ext uri="{FF2B5EF4-FFF2-40B4-BE49-F238E27FC236}">
                <a16:creationId xmlns:a16="http://schemas.microsoft.com/office/drawing/2014/main" id="{099A3484-55A5-44AD-8249-7FF88E650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67050"/>
            <a:ext cx="9067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Integraciones sensibles simuladas con transparencia.</a:t>
            </a:r>
          </a:p>
        </p:txBody>
      </p:sp>
      <p:sp>
        <p:nvSpPr>
          <p:cNvPr id="7" name="close-dot-2">
            <a:extLst xmlns:a="http://schemas.openxmlformats.org/drawingml/2006/main">
              <a:ext uri="{FF2B5EF4-FFF2-40B4-BE49-F238E27FC236}">
                <a16:creationId xmlns:a16="http://schemas.microsoft.com/office/drawing/2014/main" id="{6355CC3C-10F7-4196-B835-0F112EA6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C4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lose-2">
            <a:extLst xmlns:a="http://schemas.openxmlformats.org/drawingml/2006/main">
              <a:ext uri="{FF2B5EF4-FFF2-40B4-BE49-F238E27FC236}">
                <a16:creationId xmlns:a16="http://schemas.microsoft.com/office/drawing/2014/main" id="{C6414C08-37AC-4318-B4FC-ABB6C822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52850"/>
            <a:ext cx="9067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18 semanas, reserva del 15 % y presupuesto controlado.</a:t>
            </a:r>
          </a:p>
        </p:txBody>
      </p:sp>
      <p:sp>
        <p:nvSpPr>
          <p:cNvPr id="9" name="close-dot-3">
            <a:extLst xmlns:a="http://schemas.openxmlformats.org/drawingml/2006/main">
              <a:ext uri="{FF2B5EF4-FFF2-40B4-BE49-F238E27FC236}">
                <a16:creationId xmlns:a16="http://schemas.microsoft.com/office/drawing/2014/main" id="{17AF3E0A-7B1E-4EC9-9784-1629514D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C4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lose-3">
            <a:extLst xmlns:a="http://schemas.openxmlformats.org/drawingml/2006/main">
              <a:ext uri="{FF2B5EF4-FFF2-40B4-BE49-F238E27FC236}">
                <a16:creationId xmlns:a16="http://schemas.microsoft.com/office/drawing/2014/main" id="{980249EE-8428-442D-8D80-71A504EE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38650"/>
            <a:ext cx="9067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Validación con clientes y profesionales antes de financiar un piloto.</a:t>
            </a:r>
          </a:p>
        </p:txBody>
      </p:sp>
      <p:sp>
        <p:nvSpPr>
          <p:cNvPr id="11" name="decision">
            <a:extLst xmlns:a="http://schemas.openxmlformats.org/drawingml/2006/main">
              <a:ext uri="{FF2B5EF4-FFF2-40B4-BE49-F238E27FC236}">
                <a16:creationId xmlns:a16="http://schemas.microsoft.com/office/drawing/2014/main" id="{B2D919C1-2775-4692-8B8D-C9AD89AEB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33400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6C4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decision-text">
            <a:extLst xmlns:a="http://schemas.openxmlformats.org/drawingml/2006/main">
              <a:ext uri="{FF2B5EF4-FFF2-40B4-BE49-F238E27FC236}">
                <a16:creationId xmlns:a16="http://schemas.microsoft.com/office/drawing/2014/main" id="{60AA1B7C-C216-4817-81E6-29989107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5245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SIGUIENTE PASO · entrevistar y prototipar</a:t>
            </a:r>
          </a:p>
        </p:txBody>
      </p:sp>
      <p:sp>
        <p:nvSpPr>
          <p:cNvPr id="13" name="team">
            <a:extLst xmlns:a="http://schemas.openxmlformats.org/drawingml/2006/main">
              <a:ext uri="{FF2B5EF4-FFF2-40B4-BE49-F238E27FC236}">
                <a16:creationId xmlns:a16="http://schemas.microsoft.com/office/drawing/2014/main" id="{19C8CA30-5A1C-4C91-AEAF-F30A9331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9E2EC"/>
                </a:solidFill>
              </a:defRPr>
            </a:pPr>
            <a:r>
              <a:rPr sz="1050" b="0">
                <a:solidFill>
                  <a:srgbClr val="D9E2EC"/>
                </a:solidFill>
              </a:rPr>
              <a:t>APT122-005D · Equipo por definir</a:t>
            </a:r>
          </a:p>
        </p:txBody>
      </p:sp>
      <p:sp>
        <p:nvSpPr>
          <p:cNvPr id="14" name="page">
            <a:extLst xmlns:a="http://schemas.openxmlformats.org/drawingml/2006/main">
              <a:ext uri="{FF2B5EF4-FFF2-40B4-BE49-F238E27FC236}">
                <a16:creationId xmlns:a16="http://schemas.microsoft.com/office/drawing/2014/main" id="{0CD2D62D-E5DE-41E2-B8FA-51A5F5478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674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6C445"/>
                </a:solidFill>
              </a:defRPr>
            </a:pPr>
            <a:r>
              <a:rPr sz="900" b="1">
                <a:solidFill>
                  <a:srgbClr val="F6C44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695612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2026-09-02T19:47:11.7260000Z</dcterms:created>
  <dcterms:modified xsi:type="dcterms:W3CDTF">2026-09-02T19:47:11.7270000Z</dcterms:modified>
</coreProperties>
</file>