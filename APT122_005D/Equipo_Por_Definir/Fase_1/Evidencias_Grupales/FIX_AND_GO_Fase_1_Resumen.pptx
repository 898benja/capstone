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1.png"/><Relationship Id="rId5" Type="http://schemas.openxmlformats.org/officeDocument/2006/relationships/image" Target="../media/image-6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2D4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17373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pic>
        <p:nvPicPr>
          <p:cNvPr id="4" name="Image 0" descr="./logo_duocu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21792"/>
            <a:ext cx="1463040" cy="35661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082796" y="1417320"/>
            <a:ext cx="40233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25000"/>
              </a:srgbClr>
            </a:outerShdw>
          </a:effectLst>
        </p:spPr>
      </p:sp>
      <p:pic>
        <p:nvPicPr>
          <p:cNvPr id="6" name="Image 1" descr="./logo_fix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116" y="1627632"/>
            <a:ext cx="3474720" cy="1371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35204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DEFINICIÓN DEL PROYECTO APT</a:t>
            </a:r>
            <a:endParaRPr lang="en-US" sz="3400" dirty="0"/>
          </a:p>
        </p:txBody>
      </p:sp>
      <p:sp>
        <p:nvSpPr>
          <p:cNvPr id="8" name="Text 4"/>
          <p:cNvSpPr/>
          <p:nvPr/>
        </p:nvSpPr>
        <p:spPr>
          <a:xfrm>
            <a:off x="548640" y="4096512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C9D6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1 · Resumen Ejecutivo</a:t>
            </a:r>
            <a:endParaRPr lang="en-US" sz="1900" dirty="0"/>
          </a:p>
        </p:txBody>
      </p:sp>
      <p:sp>
        <p:nvSpPr>
          <p:cNvPr id="9" name="Shape 5"/>
          <p:cNvSpPr/>
          <p:nvPr/>
        </p:nvSpPr>
        <p:spPr>
          <a:xfrm>
            <a:off x="2985516" y="4663440"/>
            <a:ext cx="6217920" cy="457200"/>
          </a:xfrm>
          <a:prstGeom prst="roundRect">
            <a:avLst>
              <a:gd name="adj" fmla="val 50000"/>
            </a:avLst>
          </a:prstGeom>
          <a:solidFill>
            <a:srgbClr val="FFC40E"/>
          </a:solidFill>
          <a:ln/>
        </p:spPr>
      </p:sp>
      <p:sp>
        <p:nvSpPr>
          <p:cNvPr id="10" name="Text 6"/>
          <p:cNvSpPr/>
          <p:nvPr/>
        </p:nvSpPr>
        <p:spPr>
          <a:xfrm>
            <a:off x="2985516" y="46634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ACADÉMICO  ·  PROYECTO DE TÍTULO — CAPSTONE PTY4614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48640" y="56235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Benjamín Olmedo   ·   Felipe Arce   ·   Daniel Baeza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48640" y="59893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de portafolio APT122-005D   ·   8 de septiembre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87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2D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y la Oportunidad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291840" cy="4206240"/>
          </a:xfrm>
          <a:prstGeom prst="roundRect">
            <a:avLst>
              <a:gd name="adj" fmla="val 2778"/>
            </a:avLst>
          </a:prstGeom>
          <a:solidFill>
            <a:srgbClr val="F6F8F9"/>
          </a:solidFill>
          <a:ln/>
        </p:spPr>
      </p:sp>
      <p:pic>
        <p:nvPicPr>
          <p:cNvPr id="5" name="Image 0" descr="./icons_search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214884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2461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disperso e informal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38404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técnicos del hogar en Chile: gas, electricidad y agua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160520" y="1810512"/>
            <a:ext cx="128016" cy="128016"/>
          </a:xfrm>
          <a:prstGeom prst="ellipse">
            <a:avLst/>
          </a:prstGeom>
          <a:solidFill>
            <a:srgbClr val="FFC40E"/>
          </a:solidFill>
          <a:ln/>
        </p:spPr>
      </p:sp>
      <p:sp>
        <p:nvSpPr>
          <p:cNvPr id="9" name="Text 6"/>
          <p:cNvSpPr/>
          <p:nvPr/>
        </p:nvSpPr>
        <p:spPr>
          <a:xfrm>
            <a:off x="4480560" y="1737360"/>
            <a:ext cx="7132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contratación de servicios técnicos a domicilio suele depender de recomendaciones, redes sociales y contactos informales.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160520" y="3227832"/>
            <a:ext cx="128016" cy="128016"/>
          </a:xfrm>
          <a:prstGeom prst="ellipse">
            <a:avLst/>
          </a:prstGeom>
          <a:solidFill>
            <a:srgbClr val="FFC40E"/>
          </a:solidFill>
          <a:ln/>
        </p:spPr>
      </p:sp>
      <p:sp>
        <p:nvSpPr>
          <p:cNvPr id="11" name="Text 8"/>
          <p:cNvSpPr/>
          <p:nvPr/>
        </p:nvSpPr>
        <p:spPr>
          <a:xfrm>
            <a:off x="4480560" y="3154680"/>
            <a:ext cx="7132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información sobre especialidad, disponibilidad, precio y experiencia está dispersa y dificulta decidir con confianza.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160520" y="4645152"/>
            <a:ext cx="128016" cy="128016"/>
          </a:xfrm>
          <a:prstGeom prst="ellipse">
            <a:avLst/>
          </a:prstGeom>
          <a:solidFill>
            <a:srgbClr val="FFC40E"/>
          </a:solidFill>
          <a:ln/>
        </p:spPr>
      </p:sp>
      <p:sp>
        <p:nvSpPr>
          <p:cNvPr id="13" name="Text 10"/>
          <p:cNvSpPr/>
          <p:nvPr/>
        </p:nvSpPr>
        <p:spPr>
          <a:xfrm>
            <a:off x="4480560" y="4572000"/>
            <a:ext cx="7132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situación se toma como hipótesis de trabajo: se contrastará con usuarios potenciales, no se presenta como un hecho ya validado.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160520" y="5532120"/>
            <a:ext cx="7132320" cy="566928"/>
          </a:xfrm>
          <a:prstGeom prst="roundRect">
            <a:avLst>
              <a:gd name="adj" fmla="val 12903"/>
            </a:avLst>
          </a:prstGeom>
          <a:solidFill>
            <a:srgbClr val="E8F3F8"/>
          </a:solidFill>
          <a:ln/>
        </p:spPr>
      </p:sp>
      <p:sp>
        <p:nvSpPr>
          <p:cNvPr id="15" name="Text 12"/>
          <p:cNvSpPr/>
          <p:nvPr/>
        </p:nvSpPr>
        <p:spPr>
          <a:xfrm>
            <a:off x="4343400" y="553212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FIX&amp;GO busca ordenar ese proceso mediante perfiles, solicitudes, cotizaciones y seguimiento comparables.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FIX&amp;GO · Definición del Proyecto APT · Fase 1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87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2D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 de FIX&amp;GO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 funcional acotado, con acceso de demostración por rol (cliente, profesional, administrador)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1630680" cy="1371600"/>
          </a:xfrm>
          <a:prstGeom prst="roundRect">
            <a:avLst>
              <a:gd name="adj" fmla="val 6000"/>
            </a:avLst>
          </a:prstGeom>
          <a:solidFill>
            <a:srgbClr val="0C2D4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505456"/>
            <a:ext cx="163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C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21792" y="2980944"/>
            <a:ext cx="1484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61032" y="278892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435352" y="2377440"/>
            <a:ext cx="1630680" cy="1371600"/>
          </a:xfrm>
          <a:prstGeom prst="roundRect">
            <a:avLst>
              <a:gd name="adj" fmla="val 6000"/>
            </a:avLst>
          </a:prstGeom>
          <a:solidFill>
            <a:srgbClr val="123A52"/>
          </a:solidFill>
          <a:ln/>
        </p:spPr>
      </p:sp>
      <p:sp>
        <p:nvSpPr>
          <p:cNvPr id="10" name="Text 8"/>
          <p:cNvSpPr/>
          <p:nvPr/>
        </p:nvSpPr>
        <p:spPr>
          <a:xfrm>
            <a:off x="2435352" y="2505456"/>
            <a:ext cx="163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C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508504" y="2980944"/>
            <a:ext cx="1484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47744" y="278892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322064" y="2377440"/>
            <a:ext cx="1630680" cy="1371600"/>
          </a:xfrm>
          <a:prstGeom prst="roundRect">
            <a:avLst>
              <a:gd name="adj" fmla="val 6000"/>
            </a:avLst>
          </a:prstGeom>
          <a:solidFill>
            <a:srgbClr val="0C2D40"/>
          </a:solidFill>
          <a:ln/>
        </p:spPr>
      </p:sp>
      <p:sp>
        <p:nvSpPr>
          <p:cNvPr id="14" name="Text 12"/>
          <p:cNvSpPr/>
          <p:nvPr/>
        </p:nvSpPr>
        <p:spPr>
          <a:xfrm>
            <a:off x="4322064" y="2505456"/>
            <a:ext cx="163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C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395216" y="2980944"/>
            <a:ext cx="1484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34456" y="278892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208776" y="2377440"/>
            <a:ext cx="1630680" cy="1371600"/>
          </a:xfrm>
          <a:prstGeom prst="roundRect">
            <a:avLst>
              <a:gd name="adj" fmla="val 6000"/>
            </a:avLst>
          </a:prstGeom>
          <a:solidFill>
            <a:srgbClr val="123A52"/>
          </a:solidFill>
          <a:ln/>
        </p:spPr>
      </p:sp>
      <p:sp>
        <p:nvSpPr>
          <p:cNvPr id="18" name="Text 16"/>
          <p:cNvSpPr/>
          <p:nvPr/>
        </p:nvSpPr>
        <p:spPr>
          <a:xfrm>
            <a:off x="6208776" y="2505456"/>
            <a:ext cx="163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C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281928" y="2980944"/>
            <a:ext cx="1484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Cotización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821168" y="278892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095488" y="2377440"/>
            <a:ext cx="1630680" cy="1371600"/>
          </a:xfrm>
          <a:prstGeom prst="roundRect">
            <a:avLst>
              <a:gd name="adj" fmla="val 6000"/>
            </a:avLst>
          </a:prstGeom>
          <a:solidFill>
            <a:srgbClr val="0C2D40"/>
          </a:solidFill>
          <a:ln/>
        </p:spPr>
      </p:sp>
      <p:sp>
        <p:nvSpPr>
          <p:cNvPr id="22" name="Text 20"/>
          <p:cNvSpPr/>
          <p:nvPr/>
        </p:nvSpPr>
        <p:spPr>
          <a:xfrm>
            <a:off x="8095488" y="2505456"/>
            <a:ext cx="163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C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168640" y="2980944"/>
            <a:ext cx="1484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707880" y="278892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982200" y="2377440"/>
            <a:ext cx="1630680" cy="1371600"/>
          </a:xfrm>
          <a:prstGeom prst="roundRect">
            <a:avLst>
              <a:gd name="adj" fmla="val 6000"/>
            </a:avLst>
          </a:prstGeom>
          <a:solidFill>
            <a:srgbClr val="123A52"/>
          </a:solidFill>
          <a:ln/>
        </p:spPr>
      </p:sp>
      <p:sp>
        <p:nvSpPr>
          <p:cNvPr id="26" name="Text 24"/>
          <p:cNvSpPr/>
          <p:nvPr/>
        </p:nvSpPr>
        <p:spPr>
          <a:xfrm>
            <a:off x="9982200" y="2505456"/>
            <a:ext cx="163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C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055352" y="2980944"/>
            <a:ext cx="1484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Valoración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41605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responsive: misma base para uso web y móvil (computadores y teléfonos)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470916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FC40E"/>
          </a:solidFill>
          <a:ln/>
        </p:spPr>
      </p:sp>
      <p:pic>
        <p:nvPicPr>
          <p:cNvPr id="30" name="Image 0" descr="./icons_shield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956048"/>
            <a:ext cx="548640" cy="54864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554480" y="4754880"/>
            <a:ext cx="9784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C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ficticios y simulaciones identificadas: credenciales, pagos y mensajería externa se muestran como demostración. No se integran cobros reales ni se certifica la calidad de un servicio real.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FIX&amp;GO · Definición del Proyecto APT · Fase 1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87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2D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FODA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68112" cy="2148840"/>
          </a:xfrm>
          <a:prstGeom prst="roundRect">
            <a:avLst>
              <a:gd name="adj" fmla="val 4255"/>
            </a:avLst>
          </a:prstGeom>
          <a:solidFill>
            <a:srgbClr val="E9F5E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82296" cy="2148840"/>
          </a:xfrm>
          <a:prstGeom prst="rect">
            <a:avLst/>
          </a:prstGeom>
          <a:solidFill>
            <a:srgbClr val="1E6B4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830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Fortalezas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258568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definido, tres categorías iniciales y flujo trazable, con base modular y datos de prueba.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600200"/>
            <a:ext cx="5468112" cy="2148840"/>
          </a:xfrm>
          <a:prstGeom prst="roundRect">
            <a:avLst>
              <a:gd name="adj" fmla="val 4255"/>
            </a:avLst>
          </a:prstGeom>
          <a:solidFill>
            <a:srgbClr val="E8F3F8"/>
          </a:solidFill>
          <a:ln/>
        </p:spPr>
      </p:sp>
      <p:sp>
        <p:nvSpPr>
          <p:cNvPr id="9" name="Shape 7"/>
          <p:cNvSpPr/>
          <p:nvPr/>
        </p:nvSpPr>
        <p:spPr>
          <a:xfrm>
            <a:off x="6172200" y="1600200"/>
            <a:ext cx="82296" cy="2148840"/>
          </a:xfrm>
          <a:prstGeom prst="rect">
            <a:avLst/>
          </a:prstGeom>
          <a:solidFill>
            <a:srgbClr val="1B5E82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7830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92240" y="2258568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 si clientes y profesionales valoran centralizar perfiles, cotizaciones y seguimiento.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468112" cy="2148840"/>
          </a:xfrm>
          <a:prstGeom prst="roundRect">
            <a:avLst>
              <a:gd name="adj" fmla="val 4255"/>
            </a:avLst>
          </a:prstGeom>
          <a:solidFill>
            <a:srgbClr val="FBF1DE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977640"/>
            <a:ext cx="82296" cy="2148840"/>
          </a:xfrm>
          <a:prstGeom prst="rect">
            <a:avLst/>
          </a:prstGeom>
          <a:solidFill>
            <a:srgbClr val="B26A00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1605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Debilidades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68680" y="4636008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del equipo y experiencia en pruebas limitan el alcance; no acredita viabilidad comercial.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2200" y="3977640"/>
            <a:ext cx="5468112" cy="2148840"/>
          </a:xfrm>
          <a:prstGeom prst="roundRect">
            <a:avLst>
              <a:gd name="adj" fmla="val 4255"/>
            </a:avLst>
          </a:prstGeom>
          <a:solidFill>
            <a:srgbClr val="FBEAE7"/>
          </a:solidFill>
          <a:ln/>
        </p:spPr>
      </p:sp>
      <p:sp>
        <p:nvSpPr>
          <p:cNvPr id="17" name="Shape 15"/>
          <p:cNvSpPr/>
          <p:nvPr/>
        </p:nvSpPr>
        <p:spPr>
          <a:xfrm>
            <a:off x="6172200" y="3977640"/>
            <a:ext cx="82296" cy="2148840"/>
          </a:xfrm>
          <a:prstGeom prst="rect">
            <a:avLst/>
          </a:prstGeom>
          <a:solidFill>
            <a:srgbClr val="A43A2E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41605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4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Amenazas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92240" y="4636008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participación en validaciones, crecimiento de alcance y riesgo de confundir simulación con servicio real.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FIX&amp;GO · Definición del Proyecto APT · Fase 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87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2D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Viabilidad Técnica y Alcance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68112" cy="3246120"/>
          </a:xfrm>
          <a:prstGeom prst="roundRect">
            <a:avLst>
              <a:gd name="adj" fmla="val 2817"/>
            </a:avLst>
          </a:prstGeom>
          <a:solidFill>
            <a:srgbClr val="E9F5EE"/>
          </a:solidFill>
          <a:ln/>
        </p:spPr>
      </p:sp>
      <p:pic>
        <p:nvPicPr>
          <p:cNvPr id="5" name="Image 0" descr="./icons_check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1051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81051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22960" y="237744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Gas, electricidad y agua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Perfiles, búsqueda, solicitudes y cotizaciones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Estados de seguimiento y valoración al cierre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Aplicación web responsive con roles y datos ficticios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72200" y="1600200"/>
            <a:ext cx="5468112" cy="3246120"/>
          </a:xfrm>
          <a:prstGeom prst="roundRect">
            <a:avLst>
              <a:gd name="adj" fmla="val 2817"/>
            </a:avLst>
          </a:prstGeom>
          <a:solidFill>
            <a:srgbClr val="FBEAE7"/>
          </a:solidFill>
          <a:ln/>
        </p:spPr>
      </p:sp>
      <p:pic>
        <p:nvPicPr>
          <p:cNvPr id="9" name="Image 1" descr="./icons_times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10512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9440" y="181051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4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Excluye (en esta fase)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6446520" y="237744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Pagos reales y validación oficial de credenciales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Aplicación nativa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Expansión comercial a otros rubros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Servicios de gran escala / nube productiva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548640" y="5029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propuesto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5394960"/>
            <a:ext cx="2580437" cy="384048"/>
          </a:xfrm>
          <a:prstGeom prst="roundRect">
            <a:avLst>
              <a:gd name="adj" fmla="val 50000"/>
            </a:avLst>
          </a:prstGeom>
          <a:solidFill>
            <a:srgbClr val="0C2D40"/>
          </a:solidFill>
          <a:ln/>
        </p:spPr>
      </p:sp>
      <p:sp>
        <p:nvSpPr>
          <p:cNvPr id="14" name="Text 10"/>
          <p:cNvSpPr/>
          <p:nvPr/>
        </p:nvSpPr>
        <p:spPr>
          <a:xfrm>
            <a:off x="548640" y="5394960"/>
            <a:ext cx="258043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(frontend y backend)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357677" y="5394960"/>
            <a:ext cx="2055571" cy="384048"/>
          </a:xfrm>
          <a:prstGeom prst="roundRect">
            <a:avLst>
              <a:gd name="adj" fmla="val 50000"/>
            </a:avLst>
          </a:prstGeom>
          <a:solidFill>
            <a:srgbClr val="0C2D40"/>
          </a:solidFill>
          <a:ln/>
        </p:spPr>
      </p:sp>
      <p:sp>
        <p:nvSpPr>
          <p:cNvPr id="16" name="Text 12"/>
          <p:cNvSpPr/>
          <p:nvPr/>
        </p:nvSpPr>
        <p:spPr>
          <a:xfrm>
            <a:off x="3357677" y="5394960"/>
            <a:ext cx="20555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relacional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641848" y="5394960"/>
            <a:ext cx="2430475" cy="384048"/>
          </a:xfrm>
          <a:prstGeom prst="roundRect">
            <a:avLst>
              <a:gd name="adj" fmla="val 50000"/>
            </a:avLst>
          </a:prstGeom>
          <a:solidFill>
            <a:srgbClr val="0C2D40"/>
          </a:solidFill>
          <a:ln/>
        </p:spPr>
      </p:sp>
      <p:sp>
        <p:nvSpPr>
          <p:cNvPr id="18" name="Text 14"/>
          <p:cNvSpPr/>
          <p:nvPr/>
        </p:nvSpPr>
        <p:spPr>
          <a:xfrm>
            <a:off x="5641848" y="5394960"/>
            <a:ext cx="24304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local de demostración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FIX&amp;GO · Definición del Proyecto APT · Fase 1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87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2D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Financiamiento del MVP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846320" cy="4434840"/>
          </a:xfrm>
          <a:prstGeom prst="roundRect">
            <a:avLst>
              <a:gd name="adj" fmla="val 2474"/>
            </a:avLst>
          </a:prstGeom>
          <a:solidFill>
            <a:srgbClr val="0C2D4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C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 CLP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Desembolso total previsto — Fase 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6118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9D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local con equipos, conectividad y herramientas gratuitas o educativas del propio equipo. Sin inversionistas, sin deuda, sin reserva adicional.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188720" y="4617720"/>
            <a:ext cx="3566160" cy="0"/>
          </a:xfrm>
          <a:prstGeom prst="line">
            <a:avLst/>
          </a:prstGeom>
          <a:noFill/>
          <a:ln w="12700">
            <a:solidFill>
              <a:srgbClr val="2A4E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7548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432 h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523036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F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Aporte en especie estimado (3 × 8 h/sem. × 18 sem.) — tiempo, no dinero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15000" y="16916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contrata en esta fase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715000" y="2194560"/>
            <a:ext cx="5943600" cy="566928"/>
          </a:xfrm>
          <a:prstGeom prst="roundRect">
            <a:avLst>
              <a:gd name="adj" fmla="val 11290"/>
            </a:avLst>
          </a:prstGeom>
          <a:solidFill>
            <a:srgbClr val="FBEAE7"/>
          </a:solidFill>
          <a:ln/>
        </p:spPr>
      </p:sp>
      <p:pic>
        <p:nvPicPr>
          <p:cNvPr id="13" name="Image 0" descr="./icons_times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0448" y="2295144"/>
            <a:ext cx="365760" cy="3657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355080" y="219456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Nube de pago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715000" y="2880360"/>
            <a:ext cx="5943600" cy="566928"/>
          </a:xfrm>
          <a:prstGeom prst="roundRect">
            <a:avLst>
              <a:gd name="adj" fmla="val 11290"/>
            </a:avLst>
          </a:prstGeom>
          <a:solidFill>
            <a:srgbClr val="FBEAE7"/>
          </a:solidFill>
          <a:ln/>
        </p:spPr>
      </p:sp>
      <p:pic>
        <p:nvPicPr>
          <p:cNvPr id="16" name="Image 1" descr="./icons_times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448" y="2980944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355080" y="288036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propio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715000" y="3566160"/>
            <a:ext cx="5943600" cy="566928"/>
          </a:xfrm>
          <a:prstGeom prst="roundRect">
            <a:avLst>
              <a:gd name="adj" fmla="val 11290"/>
            </a:avLst>
          </a:prstGeom>
          <a:solidFill>
            <a:srgbClr val="FBEAE7"/>
          </a:solidFill>
          <a:ln/>
        </p:spPr>
      </p:sp>
      <p:pic>
        <p:nvPicPr>
          <p:cNvPr id="19" name="Image 2" descr="./icons_times_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448" y="3666744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55080" y="356616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Incentivos monetarios para pruebas con usuarios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715000" y="4251960"/>
            <a:ext cx="5943600" cy="566928"/>
          </a:xfrm>
          <a:prstGeom prst="roundRect">
            <a:avLst>
              <a:gd name="adj" fmla="val 11290"/>
            </a:avLst>
          </a:prstGeom>
          <a:solidFill>
            <a:srgbClr val="FBEAE7"/>
          </a:solidFill>
          <a:ln/>
        </p:spPr>
      </p:sp>
      <p:pic>
        <p:nvPicPr>
          <p:cNvPr id="22" name="Image 3" descr="./icons_times_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448" y="4352544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355080" y="425196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Publicación en tiendas de aplicaciones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5715000" y="4937760"/>
            <a:ext cx="5943600" cy="566928"/>
          </a:xfrm>
          <a:prstGeom prst="roundRect">
            <a:avLst>
              <a:gd name="adj" fmla="val 11290"/>
            </a:avLst>
          </a:prstGeom>
          <a:solidFill>
            <a:srgbClr val="FBEAE7"/>
          </a:solidFill>
          <a:ln/>
        </p:spPr>
      </p:sp>
      <p:pic>
        <p:nvPicPr>
          <p:cNvPr id="25" name="Image 4" descr="./icons_times_r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0448" y="5038344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355080" y="493776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Publicidad paga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5715000" y="5733288"/>
            <a:ext cx="5943600" cy="777240"/>
          </a:xfrm>
          <a:prstGeom prst="roundRect">
            <a:avLst>
              <a:gd name="adj" fmla="val 9412"/>
            </a:avLst>
          </a:prstGeom>
          <a:solidFill>
            <a:srgbClr val="FFC40E"/>
          </a:solidFill>
          <a:ln/>
        </p:spPr>
      </p:sp>
      <p:sp>
        <p:nvSpPr>
          <p:cNvPr id="28" name="Text 21"/>
          <p:cNvSpPr/>
          <p:nvPr/>
        </p:nvSpPr>
        <p:spPr>
          <a:xfrm>
            <a:off x="5943600" y="5733288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C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previstos del MVP: $0 CLP. La comisión del 20 % se conserva solo como hipótesis comercial simulada, sin aplicación en esta fase.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FIX&amp;GO · Definición del Proyecto APT · Fase 1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87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2D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Cronograma Capstone — 18 Semanas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de agosto al 12 de diciembre de 2026 · PTY4614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3291840"/>
            <a:ext cx="10698480" cy="0"/>
          </a:xfrm>
          <a:prstGeom prst="line">
            <a:avLst/>
          </a:prstGeom>
          <a:noFill/>
          <a:ln w="38100">
            <a:solidFill>
              <a:srgbClr val="D8DE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" y="3163824"/>
            <a:ext cx="256032" cy="256032"/>
          </a:xfrm>
          <a:prstGeom prst="ellipse">
            <a:avLst/>
          </a:prstGeom>
          <a:solidFill>
            <a:srgbClr val="FFC40E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2606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S1–4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-182880" y="349300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del proyecto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44184" y="3163824"/>
            <a:ext cx="256032" cy="256032"/>
          </a:xfrm>
          <a:prstGeom prst="ellipse">
            <a:avLst/>
          </a:prstGeom>
          <a:solidFill>
            <a:srgbClr val="0C2D4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49240" y="2606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66360" y="349300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de avance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(sin presentación)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253728" y="3163824"/>
            <a:ext cx="256032" cy="256032"/>
          </a:xfrm>
          <a:prstGeom prst="ellipse">
            <a:avLst/>
          </a:prstGeom>
          <a:solidFill>
            <a:srgbClr val="0C2D4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58784" y="2606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S15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375904" y="349300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del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(MVP)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1393424" y="3163824"/>
            <a:ext cx="256032" cy="256032"/>
          </a:xfrm>
          <a:prstGeom prst="ellipse">
            <a:avLst/>
          </a:prstGeom>
          <a:solidFill>
            <a:srgbClr val="0C2D4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98480" y="2606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S17–18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0" y="349300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y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defensa final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572000"/>
            <a:ext cx="11064240" cy="512064"/>
          </a:xfrm>
          <a:prstGeom prst="roundRect">
            <a:avLst>
              <a:gd name="adj" fmla="val 10714"/>
            </a:avLst>
          </a:prstGeom>
          <a:solidFill>
            <a:srgbClr val="F6F8F9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572000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S1–4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063240" y="4572000"/>
            <a:ext cx="8366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Definición, requisitos, objetivos y tecnologías propuestas.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157216"/>
            <a:ext cx="1106424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157216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S5–15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063240" y="5157216"/>
            <a:ext cx="8366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Prototipo, construcción del recorrido, avance (S10) y entrega del MVP (S15).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742432"/>
            <a:ext cx="11064240" cy="512064"/>
          </a:xfrm>
          <a:prstGeom prst="roundRect">
            <a:avLst>
              <a:gd name="adj" fmla="val 10714"/>
            </a:avLst>
          </a:prstGeom>
          <a:solidFill>
            <a:srgbClr val="F6F8F9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742432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S16–18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063240" y="5742432"/>
            <a:ext cx="8366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Reflexión, preparación y presentación de la defensa final.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FIX&amp;GO · Definición del Proyecto APT · Fase 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2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5156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 académico, no una plataforma comercial operativa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463040" y="205740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9D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Fase 1 formaliza actores, alcance, historias y criterios de aceptación para un recorrido de contratación simulada — evidencia de análisis, desarrollo, calidad y gestión del Proyecto de Título.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31520" y="32461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23A5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34290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C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Benjamín Olmedo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60120" y="38862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4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Prototipado, interfaz responsive, accesibilidad y pruebas de tareas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32461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23A52"/>
          </a:solidFill>
          <a:ln/>
        </p:spPr>
      </p:sp>
      <p:sp>
        <p:nvSpPr>
          <p:cNvPr id="8" name="Text 6"/>
          <p:cNvSpPr/>
          <p:nvPr/>
        </p:nvSpPr>
        <p:spPr>
          <a:xfrm>
            <a:off x="4800600" y="34290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C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Baeza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800600" y="38862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4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Backend, permisos y transiciones de solicitudes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412480" y="32461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23A52"/>
          </a:solidFill>
          <a:ln/>
        </p:spPr>
      </p:sp>
      <p:sp>
        <p:nvSpPr>
          <p:cNvPr id="11" name="Text 9"/>
          <p:cNvSpPr/>
          <p:nvPr/>
        </p:nvSpPr>
        <p:spPr>
          <a:xfrm>
            <a:off x="8641080" y="34290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C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Felipe Arce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641080" y="38862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4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datos, datos de prueba y consolidación de pruebas e informe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PTY4614  ·  Sección APT122-005D  ·  Duoc UC  ·  8 de septiembre de 2026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2026-09-09T12:30:32Z</dcterms:created>
  <dcterms:modified xsi:type="dcterms:W3CDTF">2026-09-09T12:30:32Z</dcterms:modified>
</cp:coreProperties>
</file>